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bdf46716434162" /><Relationship Type="http://schemas.openxmlformats.org/officeDocument/2006/relationships/extended-properties" Target="/docProps/app.xml" Id="R0191a7647aad4573" /><Relationship Type="http://schemas.openxmlformats.org/officeDocument/2006/relationships/officeDocument" Target="/ppt/presentation.xml" Id="R4f2bbf8042ae42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e6020ebd2c4bf7"/>
  </p:sldMasterIdLst>
  <p:notesMasterIdLst>
    <p:notesMasterId xmlns:r="http://schemas.openxmlformats.org/officeDocument/2006/relationships" r:id="R1111a9ea1451430d"/>
  </p:notesMasterIdLst>
  <p:sldIdLst>
    <p:sldId xmlns:r="http://schemas.openxmlformats.org/officeDocument/2006/relationships" id="256" r:id="R51392f084ec54e65"/>
    <p:sldId xmlns:r="http://schemas.openxmlformats.org/officeDocument/2006/relationships" id="257" r:id="R12961ae341554ece"/>
    <p:sldId xmlns:r="http://schemas.openxmlformats.org/officeDocument/2006/relationships" id="258" r:id="R5a21a53e8c2e4139"/>
    <p:sldId xmlns:r="http://schemas.openxmlformats.org/officeDocument/2006/relationships" id="259" r:id="R08f2083751e446aa"/>
    <p:sldId xmlns:r="http://schemas.openxmlformats.org/officeDocument/2006/relationships" id="260" r:id="R23de2ccc508b462c"/>
    <p:sldId xmlns:r="http://schemas.openxmlformats.org/officeDocument/2006/relationships" id="261" r:id="R746ec67ea3644a65"/>
    <p:sldId xmlns:r="http://schemas.openxmlformats.org/officeDocument/2006/relationships" id="262" r:id="R442ec417f9534494"/>
    <p:sldId xmlns:r="http://schemas.openxmlformats.org/officeDocument/2006/relationships" id="263" r:id="R9db67234e5494ce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a1e4ec99644f60" /><Relationship Type="http://schemas.openxmlformats.org/officeDocument/2006/relationships/slideMaster" Target="/ppt/slideMasters/slideMaster1.xml" Id="R7de6020ebd2c4bf7" /><Relationship Type="http://schemas.openxmlformats.org/officeDocument/2006/relationships/notesMaster" Target="/ppt/notesMasters/notesMaster1.xml" Id="R1111a9ea1451430d" /><Relationship Type="http://schemas.openxmlformats.org/officeDocument/2006/relationships/presProps" Target="/ppt/presProps.xml" Id="R99c2860e1e044bf1" /><Relationship Type="http://schemas.openxmlformats.org/officeDocument/2006/relationships/tableStyles" Target="/ppt/tableStyles.xml" Id="R0321df721b224fcf" /><Relationship Type="http://schemas.openxmlformats.org/officeDocument/2006/relationships/slide" Target="/ppt/slides/slide1.xml" Id="R51392f084ec54e65" /><Relationship Type="http://schemas.openxmlformats.org/officeDocument/2006/relationships/slide" Target="/ppt/slides/slide2.xml" Id="R12961ae341554ece" /><Relationship Type="http://schemas.openxmlformats.org/officeDocument/2006/relationships/slide" Target="/ppt/slides/slide3.xml" Id="R5a21a53e8c2e4139" /><Relationship Type="http://schemas.openxmlformats.org/officeDocument/2006/relationships/slide" Target="/ppt/slides/slide4.xml" Id="R08f2083751e446aa" /><Relationship Type="http://schemas.openxmlformats.org/officeDocument/2006/relationships/slide" Target="/ppt/slides/slide5.xml" Id="R23de2ccc508b462c" /><Relationship Type="http://schemas.openxmlformats.org/officeDocument/2006/relationships/slide" Target="/ppt/slides/slide6.xml" Id="R746ec67ea3644a65" /><Relationship Type="http://schemas.openxmlformats.org/officeDocument/2006/relationships/slide" Target="/ppt/slides/slide7.xml" Id="R442ec417f9534494" /><Relationship Type="http://schemas.openxmlformats.org/officeDocument/2006/relationships/slide" Target="/ppt/slides/slide8.xml" Id="R9db67234e5494c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6f74e819074a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c139e5eff8420d" /><Relationship Type="http://schemas.openxmlformats.org/officeDocument/2006/relationships/notesMaster" Target="/ppt/notesMasters/notesMaster1.xml" Id="R61a0389227cc4d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5495a4988244f6" /><Relationship Type="http://schemas.openxmlformats.org/officeDocument/2006/relationships/notesMaster" Target="/ppt/notesMasters/notesMaster1.xml" Id="Ra4e838209f3e4d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5e560912f043f8" /><Relationship Type="http://schemas.openxmlformats.org/officeDocument/2006/relationships/notesMaster" Target="/ppt/notesMasters/notesMaster1.xml" Id="Rc5fa6c148cc741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9c7d75591e4dda" /><Relationship Type="http://schemas.openxmlformats.org/officeDocument/2006/relationships/notesMaster" Target="/ppt/notesMasters/notesMaster1.xml" Id="R05905615207c45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9edb7923ee4e34" /><Relationship Type="http://schemas.openxmlformats.org/officeDocument/2006/relationships/notesMaster" Target="/ppt/notesMasters/notesMaster1.xml" Id="R7b616b07603d45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651fd32113448b" /><Relationship Type="http://schemas.openxmlformats.org/officeDocument/2006/relationships/notesMaster" Target="/ppt/notesMasters/notesMaster1.xml" Id="R4add9c75045845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713a56c9f34e9f" /><Relationship Type="http://schemas.openxmlformats.org/officeDocument/2006/relationships/notesMaster" Target="/ppt/notesMasters/notesMaster1.xml" Id="Rcab8ed83f07c4c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0f3ce86676943ce" /><Relationship Type="http://schemas.openxmlformats.org/officeDocument/2006/relationships/notesMaster" Target="/ppt/notesMasters/notesMaster1.xml" Id="Rcd2d0f1b6156461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ca9c07ec9d43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8c0399812542e8" /><Relationship Type="http://schemas.openxmlformats.org/officeDocument/2006/relationships/slideLayout" Target="/ppt/slideLayouts/slideLayout1.xml" Id="Rca9f622ee1a346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9f622ee1a346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55bcafd01a4970" /><Relationship Type="http://schemas.openxmlformats.org/officeDocument/2006/relationships/notesSlide" Target="/ppt/notesSlides/notesSlide1.xml" Id="R0484635dc36e49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6dd3bcdef4ff2" /><Relationship Type="http://schemas.openxmlformats.org/officeDocument/2006/relationships/notesSlide" Target="/ppt/notesSlides/notesSlide2.xml" Id="R126eb6411ec444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ad35e7e964824" /><Relationship Type="http://schemas.openxmlformats.org/officeDocument/2006/relationships/image" Target="/ppt/media/image.png" Id="R1ff28ca1634640f0" /><Relationship Type="http://schemas.openxmlformats.org/officeDocument/2006/relationships/image" Target="/ppt/media/image2.png" Id="R013597c815684316" /><Relationship Type="http://schemas.openxmlformats.org/officeDocument/2006/relationships/notesSlide" Target="/ppt/notesSlides/notesSlide3.xml" Id="Ra3c7bbff5b9d4b4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020104651427b" /><Relationship Type="http://schemas.openxmlformats.org/officeDocument/2006/relationships/image" Target="/ppt/media/image3.png" Id="Rb2af975866aa4f70" /><Relationship Type="http://schemas.openxmlformats.org/officeDocument/2006/relationships/notesSlide" Target="/ppt/notesSlides/notesSlide4.xml" Id="R8cd81579c45f47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2d8f918944da6" /><Relationship Type="http://schemas.openxmlformats.org/officeDocument/2006/relationships/image" Target="/ppt/media/image4.png" Id="R557da4c8f8394c90" /><Relationship Type="http://schemas.openxmlformats.org/officeDocument/2006/relationships/notesSlide" Target="/ppt/notesSlides/notesSlide5.xml" Id="R18503ca78abd42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7928c04014129" /><Relationship Type="http://schemas.openxmlformats.org/officeDocument/2006/relationships/image" Target="/ppt/media/image5.png" Id="R6cb66d3f205b42b7" /><Relationship Type="http://schemas.openxmlformats.org/officeDocument/2006/relationships/image" Target="/ppt/media/image6.png" Id="Rf7c1707e03f9423e" /><Relationship Type="http://schemas.openxmlformats.org/officeDocument/2006/relationships/notesSlide" Target="/ppt/notesSlides/notesSlide6.xml" Id="Rcbd1e98cd0204f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1a4eb51674d53" /><Relationship Type="http://schemas.openxmlformats.org/officeDocument/2006/relationships/notesSlide" Target="/ppt/notesSlides/notesSlide7.xml" Id="R15aa88f1de7a43e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fa6d0bfed4835" /><Relationship Type="http://schemas.openxmlformats.org/officeDocument/2006/relationships/hyperlink" Target="https://github.com/bebraw/kirjolab" TargetMode="External" Id="Rfaacbd575e664daa" /><Relationship Type="http://schemas.openxmlformats.org/officeDocument/2006/relationships/hyperlink" Target="https://github.com/bebraw/kirjolab/blob/main/docs/build-week-2026-judge-guide.md" TargetMode="External" Id="Rb5f5a618fd154170" /><Relationship Type="http://schemas.openxmlformats.org/officeDocument/2006/relationships/notesSlide" Target="/ppt/notesSlides/notesSlide8.xml" Id="Re64b522f31414fc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1">
            <a:extLst xmlns:a="http://schemas.openxmlformats.org/drawingml/2006/main">
              <a:ext uri="{FF2B5EF4-FFF2-40B4-BE49-F238E27FC236}">
                <a16:creationId xmlns:a16="http://schemas.microsoft.com/office/drawing/2014/main" id="{04181CB9-1E10-454F-AE4F-24342D40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1">
            <a:extLst xmlns:a="http://schemas.openxmlformats.org/drawingml/2006/main">
              <a:ext uri="{FF2B5EF4-FFF2-40B4-BE49-F238E27FC236}">
                <a16:creationId xmlns:a16="http://schemas.microsoft.com/office/drawing/2014/main" id="{530D5EA2-1B65-47E4-897B-8D12FE26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OPENAI BUILD WEEK 2026 · WORK &amp; PRODUCTIVITY</a:t>
            </a:r>
          </a:p>
        </p:txBody>
      </p:sp>
      <p:sp>
        <p:nvSpPr>
          <p:cNvPr id="3" name="folio-1">
            <a:extLst xmlns:a="http://schemas.openxmlformats.org/drawingml/2006/main">
              <a:ext uri="{FF2B5EF4-FFF2-40B4-BE49-F238E27FC236}">
                <a16:creationId xmlns:a16="http://schemas.microsoft.com/office/drawing/2014/main" id="{DB7E8FF4-7E8E-466E-B1C4-A7930AA5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01 / 08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0FB7474-ADFA-4156-8D1F-A3A048B2E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6667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72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72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Kirjolab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5A37961D-C300-45F6-9409-973316DA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657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0" i="0">
                <a:solidFill>
                  <a:srgbClr val="4E5049"/>
                </a:solidFill>
                <a:latin typeface="Inter"/>
                <a:ea typeface="Inter"/>
                <a:cs typeface="Inter"/>
              </a:defRPr>
            </a:pPr>
            <a:r>
              <a:rPr sz="2100" b="0" i="0">
                <a:solidFill>
                  <a:srgbClr val="4E5049"/>
                </a:solidFill>
                <a:latin typeface="Inter"/>
                <a:ea typeface="Inter"/>
                <a:cs typeface="Inter"/>
              </a:rPr>
              <a:t>An integrated workspace where scholarly evidence becomes traceable prose.</a:t>
            </a:r>
          </a:p>
        </p:txBody>
      </p:sp>
      <p:sp>
        <p:nvSpPr>
          <p:cNvPr id="6" name="accent-rule">
            <a:extLst xmlns:a="http://schemas.openxmlformats.org/drawingml/2006/main">
              <a:ext uri="{FF2B5EF4-FFF2-40B4-BE49-F238E27FC236}">
                <a16:creationId xmlns:a16="http://schemas.microsoft.com/office/drawing/2014/main" id="{804EC1FE-75E9-4423-9703-755F4743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096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53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3B839738-0FB6-4606-976C-B667C644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435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INSPECT THE TRAIL  ·  KEEP THE SOURCE  ·  DECIDE WHAT CHANGES</a:t>
            </a:r>
          </a:p>
        </p:txBody>
      </p:sp>
    </p:spTree>
    <p:extLst>
      <p:ext uri="{BB962C8B-B14F-4D97-AF65-F5344CB8AC3E}">
        <p14:creationId xmlns:p14="http://schemas.microsoft.com/office/powerpoint/2010/main" val="7193202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2">
            <a:extLst xmlns:a="http://schemas.openxmlformats.org/drawingml/2006/main">
              <a:ext uri="{FF2B5EF4-FFF2-40B4-BE49-F238E27FC236}">
                <a16:creationId xmlns:a16="http://schemas.microsoft.com/office/drawing/2014/main" id="{0B76D0E8-666C-47A7-A821-7B279960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2">
            <a:extLst xmlns:a="http://schemas.openxmlformats.org/drawingml/2006/main">
              <a:ext uri="{FF2B5EF4-FFF2-40B4-BE49-F238E27FC236}">
                <a16:creationId xmlns:a16="http://schemas.microsoft.com/office/drawing/2014/main" id="{0E7DD014-075E-442A-BFA3-D56A704D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THE GAP</a:t>
            </a:r>
          </a:p>
        </p:txBody>
      </p:sp>
      <p:sp>
        <p:nvSpPr>
          <p:cNvPr id="3" name="folio-2">
            <a:extLst xmlns:a="http://schemas.openxmlformats.org/drawingml/2006/main">
              <a:ext uri="{FF2B5EF4-FFF2-40B4-BE49-F238E27FC236}">
                <a16:creationId xmlns:a16="http://schemas.microsoft.com/office/drawing/2014/main" id="{9E5B8E4B-8869-42C5-AAEB-56382A48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02 / 08</a:t>
            </a:r>
          </a:p>
        </p:txBody>
      </p:sp>
      <p:sp>
        <p:nvSpPr>
          <p:cNvPr id="4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9692AFFE-CB53-466F-8319-2F00D095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9334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2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42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A citation survives.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42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42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Its evidence trail often does not.</a:t>
            </a:r>
          </a:p>
        </p:txBody>
      </p:sp>
      <p:sp>
        <p:nvSpPr>
          <p:cNvPr id="5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9D47C790-156A-40E2-B462-3A0C5238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65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Research work crosses tools. Each handoff makes the source passage, reasoning, model context, and human decision harder to reconstruct.</a:t>
            </a:r>
          </a:p>
        </p:txBody>
      </p:sp>
      <p:sp>
        <p:nvSpPr>
          <p:cNvPr id="6" name="problem-path">
            <a:extLst xmlns:a="http://schemas.openxmlformats.org/drawingml/2006/main">
              <a:ext uri="{FF2B5EF4-FFF2-40B4-BE49-F238E27FC236}">
                <a16:creationId xmlns:a16="http://schemas.microsoft.com/office/drawing/2014/main" id="{992A0687-FBDD-4363-BF90-26BDFF4D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0401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2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roblem-node-01">
            <a:extLst xmlns:a="http://schemas.openxmlformats.org/drawingml/2006/main">
              <a:ext uri="{FF2B5EF4-FFF2-40B4-BE49-F238E27FC236}">
                <a16:creationId xmlns:a16="http://schemas.microsoft.com/office/drawing/2014/main" id="{FA8E104A-1435-4DEC-8BA1-F32614B2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114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53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roblem-number-01">
            <a:extLst xmlns:a="http://schemas.openxmlformats.org/drawingml/2006/main">
              <a:ext uri="{FF2B5EF4-FFF2-40B4-BE49-F238E27FC236}">
                <a16:creationId xmlns:a16="http://schemas.microsoft.com/office/drawing/2014/main" id="{32141D63-6348-45C9-AAA8-4F831772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defRPr>
            </a:pPr>
            <a:r>
              <a: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rPr>
              <a:t>01</a:t>
            </a:r>
          </a:p>
        </p:txBody>
      </p:sp>
      <p:sp>
        <p:nvSpPr>
          <p:cNvPr id="9" name="problem-label-01">
            <a:extLst xmlns:a="http://schemas.openxmlformats.org/drawingml/2006/main">
              <a:ext uri="{FF2B5EF4-FFF2-40B4-BE49-F238E27FC236}">
                <a16:creationId xmlns:a16="http://schemas.microsoft.com/office/drawing/2014/main" id="{0E27DE3D-1949-454B-B278-6887CB32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72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SOURCE</a:t>
            </a:r>
          </a:p>
        </p:txBody>
      </p:sp>
      <p:sp>
        <p:nvSpPr>
          <p:cNvPr id="10" name="problem-copy-01">
            <a:extLst xmlns:a="http://schemas.openxmlformats.org/drawingml/2006/main">
              <a:ext uri="{FF2B5EF4-FFF2-40B4-BE49-F238E27FC236}">
                <a16:creationId xmlns:a16="http://schemas.microsoft.com/office/drawing/2014/main" id="{EA135FD3-7B68-4741-B61C-96620231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A paper enters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the library.</a:t>
            </a:r>
          </a:p>
        </p:txBody>
      </p:sp>
      <p:sp>
        <p:nvSpPr>
          <p:cNvPr id="11" name="problem-node-02">
            <a:extLst xmlns:a="http://schemas.openxmlformats.org/drawingml/2006/main">
              <a:ext uri="{FF2B5EF4-FFF2-40B4-BE49-F238E27FC236}">
                <a16:creationId xmlns:a16="http://schemas.microsoft.com/office/drawing/2014/main" id="{69FDF147-6404-437F-BC6B-EC0F2A3D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114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53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roblem-number-02">
            <a:extLst xmlns:a="http://schemas.openxmlformats.org/drawingml/2006/main">
              <a:ext uri="{FF2B5EF4-FFF2-40B4-BE49-F238E27FC236}">
                <a16:creationId xmlns:a16="http://schemas.microsoft.com/office/drawing/2014/main" id="{C59CE586-10DF-414F-BDA3-41E76A4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72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defRPr>
            </a:pPr>
            <a:r>
              <a: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rPr>
              <a:t>02</a:t>
            </a:r>
          </a:p>
        </p:txBody>
      </p:sp>
      <p:sp>
        <p:nvSpPr>
          <p:cNvPr id="13" name="problem-label-02">
            <a:extLst xmlns:a="http://schemas.openxmlformats.org/drawingml/2006/main">
              <a:ext uri="{FF2B5EF4-FFF2-40B4-BE49-F238E27FC236}">
                <a16:creationId xmlns:a16="http://schemas.microsoft.com/office/drawing/2014/main" id="{6ADD58FA-78A8-40D9-BEC2-0F567AEC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72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EVIDENCE</a:t>
            </a:r>
          </a:p>
        </p:txBody>
      </p:sp>
      <p:sp>
        <p:nvSpPr>
          <p:cNvPr id="14" name="problem-copy-02">
            <a:extLst xmlns:a="http://schemas.openxmlformats.org/drawingml/2006/main">
              <a:ext uri="{FF2B5EF4-FFF2-40B4-BE49-F238E27FC236}">
                <a16:creationId xmlns:a16="http://schemas.microsoft.com/office/drawing/2014/main" id="{C442D0EF-92BA-4F49-922F-BBBD295A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2920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The useful passage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stays in a PDF.</a:t>
            </a:r>
          </a:p>
        </p:txBody>
      </p:sp>
      <p:sp>
        <p:nvSpPr>
          <p:cNvPr id="15" name="problem-node-03">
            <a:extLst xmlns:a="http://schemas.openxmlformats.org/drawingml/2006/main">
              <a:ext uri="{FF2B5EF4-FFF2-40B4-BE49-F238E27FC236}">
                <a16:creationId xmlns:a16="http://schemas.microsoft.com/office/drawing/2014/main" id="{98B1A788-EBBC-4D13-A89D-649C865E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114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53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blem-number-03">
            <a:extLst xmlns:a="http://schemas.openxmlformats.org/drawingml/2006/main">
              <a:ext uri="{FF2B5EF4-FFF2-40B4-BE49-F238E27FC236}">
                <a16:creationId xmlns:a16="http://schemas.microsoft.com/office/drawing/2014/main" id="{957CC727-DDC8-4B82-9294-82733D0E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72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defRPr>
            </a:pPr>
            <a:r>
              <a:rPr sz="1350" b="1" i="0">
                <a:solidFill>
                  <a:srgbClr val="B65331"/>
                </a:solidFill>
                <a:latin typeface="Fira Code"/>
                <a:ea typeface="Fira Code"/>
                <a:cs typeface="Fira Code"/>
              </a:rPr>
              <a:t>03</a:t>
            </a:r>
          </a:p>
        </p:txBody>
      </p:sp>
      <p:sp>
        <p:nvSpPr>
          <p:cNvPr id="17" name="problem-label-03">
            <a:extLst xmlns:a="http://schemas.openxmlformats.org/drawingml/2006/main">
              <a:ext uri="{FF2B5EF4-FFF2-40B4-BE49-F238E27FC236}">
                <a16:creationId xmlns:a16="http://schemas.microsoft.com/office/drawing/2014/main" id="{AFB5AEE7-4D11-4FC9-85E9-DD825578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572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REASONING</a:t>
            </a:r>
          </a:p>
        </p:txBody>
      </p:sp>
      <p:sp>
        <p:nvSpPr>
          <p:cNvPr id="18" name="problem-copy-03">
            <a:extLst xmlns:a="http://schemas.openxmlformats.org/drawingml/2006/main">
              <a:ext uri="{FF2B5EF4-FFF2-40B4-BE49-F238E27FC236}">
                <a16:creationId xmlns:a16="http://schemas.microsoft.com/office/drawing/2014/main" id="{842165F1-3ED6-48C5-B704-35DA3890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02920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Notes and model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context drift away.</a:t>
            </a:r>
          </a:p>
        </p:txBody>
      </p:sp>
      <p:sp>
        <p:nvSpPr>
          <p:cNvPr id="19" name="problem-node-04">
            <a:extLst xmlns:a="http://schemas.openxmlformats.org/drawingml/2006/main">
              <a:ext uri="{FF2B5EF4-FFF2-40B4-BE49-F238E27FC236}">
                <a16:creationId xmlns:a16="http://schemas.microsoft.com/office/drawing/2014/main" id="{D18ECB12-2F2E-47A8-A9AE-16D13DD0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1148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4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roblem-number-04">
            <a:extLst xmlns:a="http://schemas.openxmlformats.org/drawingml/2006/main">
              <a:ext uri="{FF2B5EF4-FFF2-40B4-BE49-F238E27FC236}">
                <a16:creationId xmlns:a16="http://schemas.microsoft.com/office/drawing/2014/main" id="{70651DBE-3EEC-47A3-A673-C107FDDE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5720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174F3D"/>
                </a:solidFill>
                <a:latin typeface="Fira Code"/>
                <a:ea typeface="Fira Code"/>
                <a:cs typeface="Fira Code"/>
              </a:defRPr>
            </a:pPr>
            <a:r>
              <a:rPr sz="1350" b="1" i="0">
                <a:solidFill>
                  <a:srgbClr val="174F3D"/>
                </a:solidFill>
                <a:latin typeface="Fira Code"/>
                <a:ea typeface="Fira Code"/>
                <a:cs typeface="Fira Code"/>
              </a:rPr>
              <a:t>04</a:t>
            </a:r>
          </a:p>
        </p:txBody>
      </p:sp>
      <p:sp>
        <p:nvSpPr>
          <p:cNvPr id="21" name="problem-label-04">
            <a:extLst xmlns:a="http://schemas.openxmlformats.org/drawingml/2006/main">
              <a:ext uri="{FF2B5EF4-FFF2-40B4-BE49-F238E27FC236}">
                <a16:creationId xmlns:a16="http://schemas.microsoft.com/office/drawing/2014/main" id="{17BFD233-F054-466B-9552-AA4DF2C7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720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MANUSCRIPT</a:t>
            </a:r>
          </a:p>
        </p:txBody>
      </p:sp>
      <p:sp>
        <p:nvSpPr>
          <p:cNvPr id="22" name="problem-copy-04">
            <a:extLst xmlns:a="http://schemas.openxmlformats.org/drawingml/2006/main">
              <a:ext uri="{FF2B5EF4-FFF2-40B4-BE49-F238E27FC236}">
                <a16:creationId xmlns:a16="http://schemas.microsoft.com/office/drawing/2014/main" id="{C88FC065-5FD5-47C6-8740-513EADC4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2920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Only the citation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reaches the prose.</a:t>
            </a:r>
          </a:p>
        </p:txBody>
      </p:sp>
    </p:spTree>
    <p:extLst>
      <p:ext uri="{BB962C8B-B14F-4D97-AF65-F5344CB8AC3E}">
        <p14:creationId xmlns:p14="http://schemas.microsoft.com/office/powerpoint/2010/main" val="10257188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3">
            <a:extLst xmlns:a="http://schemas.openxmlformats.org/drawingml/2006/main">
              <a:ext uri="{FF2B5EF4-FFF2-40B4-BE49-F238E27FC236}">
                <a16:creationId xmlns:a16="http://schemas.microsoft.com/office/drawing/2014/main" id="{F592B2DA-32C5-40BA-A9C9-69819F69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3">
            <a:extLst xmlns:a="http://schemas.openxmlformats.org/drawingml/2006/main">
              <a:ext uri="{FF2B5EF4-FFF2-40B4-BE49-F238E27FC236}">
                <a16:creationId xmlns:a16="http://schemas.microsoft.com/office/drawing/2014/main" id="{CEC06E75-A115-45B5-8712-8506B588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ONE SCHOLARLY WORKSPACE</a:t>
            </a:r>
          </a:p>
        </p:txBody>
      </p:sp>
      <p:sp>
        <p:nvSpPr>
          <p:cNvPr id="3" name="folio-3">
            <a:extLst xmlns:a="http://schemas.openxmlformats.org/drawingml/2006/main">
              <a:ext uri="{FF2B5EF4-FFF2-40B4-BE49-F238E27FC236}">
                <a16:creationId xmlns:a16="http://schemas.microsoft.com/office/drawing/2014/main" id="{637A5ABA-E3A2-42F4-8316-39339169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03 / 08</a:t>
            </a:r>
          </a:p>
        </p:txBody>
      </p:sp>
      <p:sp>
        <p:nvSpPr>
          <p:cNvPr id="4" name="workspace-title">
            <a:extLst xmlns:a="http://schemas.openxmlformats.org/drawingml/2006/main">
              <a:ext uri="{FF2B5EF4-FFF2-40B4-BE49-F238E27FC236}">
                <a16:creationId xmlns:a16="http://schemas.microsoft.com/office/drawing/2014/main" id="{67D5AE4F-547C-470B-BE3B-6BC9EC3C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Reading and writing stay connected.</a:t>
            </a:r>
          </a:p>
        </p:txBody>
      </p:sp>
      <p:sp>
        <p:nvSpPr>
          <p:cNvPr id="5" name="workspace-lead">
            <a:extLst xmlns:a="http://schemas.openxmlformats.org/drawingml/2006/main">
              <a:ext uri="{FF2B5EF4-FFF2-40B4-BE49-F238E27FC236}">
                <a16:creationId xmlns:a16="http://schemas.microsoft.com/office/drawing/2014/main" id="{14E1FFD1-30B3-43FB-B2D1-73B5997B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Portable Markdown, a live scientific preview, and exact PDF annotations remain directly navigable.</a:t>
            </a:r>
          </a:p>
        </p:txBody>
      </p:sp>
      <p:sp>
        <p:nvSpPr>
          <p:cNvPr id="6" name="authoring-screen-shadow">
            <a:extLst xmlns:a="http://schemas.openxmlformats.org/drawingml/2006/main">
              <a:ext uri="{FF2B5EF4-FFF2-40B4-BE49-F238E27FC236}">
                <a16:creationId xmlns:a16="http://schemas.microsoft.com/office/drawing/2014/main" id="{8A96D414-ED44-4F3D-ABF5-298E8B4A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uthoring-screen-frame">
            <a:extLst xmlns:a="http://schemas.openxmlformats.org/drawingml/2006/main">
              <a:ext uri="{FF2B5EF4-FFF2-40B4-BE49-F238E27FC236}">
                <a16:creationId xmlns:a16="http://schemas.microsoft.com/office/drawing/2014/main" id="{1ABF995D-1233-45CC-BBE7-47231C48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f28ca1634640f0"/>
          <a:srcRect xmlns:a="http://schemas.openxmlformats.org/drawingml/2006/main" l="0" t="6063" r="0" b="6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86000"/>
            <a:ext cx="5105400" cy="2990850"/>
          </a:xfrm>
          <a:prstGeom xmlns:a="http://schemas.openxmlformats.org/drawingml/2006/main" prst="roundRect">
            <a:avLst>
              <a:gd name="adj" fmla="val 3822"/>
            </a:avLst>
          </a:prstGeom>
        </p:spPr>
      </p:pic>
      <p:sp>
        <p:nvSpPr>
          <p:cNvPr id="9" name="annotation-screen-shadow">
            <a:extLst xmlns:a="http://schemas.openxmlformats.org/drawingml/2006/main">
              <a:ext uri="{FF2B5EF4-FFF2-40B4-BE49-F238E27FC236}">
                <a16:creationId xmlns:a16="http://schemas.microsoft.com/office/drawing/2014/main" id="{9DBFAD3B-5186-4E82-B373-47665D86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6220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nnotation-screen-frame">
            <a:extLst xmlns:a="http://schemas.openxmlformats.org/drawingml/2006/main">
              <a:ext uri="{FF2B5EF4-FFF2-40B4-BE49-F238E27FC236}">
                <a16:creationId xmlns:a16="http://schemas.microsoft.com/office/drawing/2014/main" id="{64C9EBCD-F235-4856-B686-16410152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3597c815684316"/>
          <a:srcRect xmlns:a="http://schemas.openxmlformats.org/drawingml/2006/main" l="0" t="6063" r="0" b="6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2286000"/>
            <a:ext cx="5105400" cy="2990850"/>
          </a:xfrm>
          <a:prstGeom xmlns:a="http://schemas.openxmlformats.org/drawingml/2006/main" prst="roundRect">
            <a:avLst>
              <a:gd name="adj" fmla="val 3822"/>
            </a:avLst>
          </a:prstGeom>
        </p:spPr>
      </p:pic>
      <p:sp>
        <p:nvSpPr>
          <p:cNvPr id="12" name="authoring-caption">
            <a:extLst xmlns:a="http://schemas.openxmlformats.org/drawingml/2006/main">
              <a:ext uri="{FF2B5EF4-FFF2-40B4-BE49-F238E27FC236}">
                <a16:creationId xmlns:a16="http://schemas.microsoft.com/office/drawing/2014/main" id="{1A95B3A9-3AC3-4C5D-9880-96EF8D57F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AUTHORING  ·  CANONICAL MARKDOWN + LIVE PREVIEW</a:t>
            </a:r>
          </a:p>
        </p:txBody>
      </p:sp>
      <p:sp>
        <p:nvSpPr>
          <p:cNvPr id="13" name="annotation-caption">
            <a:extLst xmlns:a="http://schemas.openxmlformats.org/drawingml/2006/main">
              <a:ext uri="{FF2B5EF4-FFF2-40B4-BE49-F238E27FC236}">
                <a16:creationId xmlns:a16="http://schemas.microsoft.com/office/drawing/2014/main" id="{91F00610-C2D2-485F-B50D-C79CF84E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67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READING  ·  PAGE GEOMETRY + PRIVATE NOTE</a:t>
            </a:r>
          </a:p>
        </p:txBody>
      </p:sp>
    </p:spTree>
    <p:extLst>
      <p:ext uri="{BB962C8B-B14F-4D97-AF65-F5344CB8AC3E}">
        <p14:creationId xmlns:p14="http://schemas.microsoft.com/office/powerpoint/2010/main" val="11546616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4">
            <a:extLst xmlns:a="http://schemas.openxmlformats.org/drawingml/2006/main">
              <a:ext uri="{FF2B5EF4-FFF2-40B4-BE49-F238E27FC236}">
                <a16:creationId xmlns:a16="http://schemas.microsoft.com/office/drawing/2014/main" id="{54E6B520-42DC-4D8D-B307-26D920A9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4">
            <a:extLst xmlns:a="http://schemas.openxmlformats.org/drawingml/2006/main">
              <a:ext uri="{FF2B5EF4-FFF2-40B4-BE49-F238E27FC236}">
                <a16:creationId xmlns:a16="http://schemas.microsoft.com/office/drawing/2014/main" id="{382E7A83-AE61-42FE-9B8D-DB6F73F04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EVIDENCE BECOMES PROSE</a:t>
            </a:r>
          </a:p>
        </p:txBody>
      </p:sp>
      <p:sp>
        <p:nvSpPr>
          <p:cNvPr id="3" name="folio-4">
            <a:extLst xmlns:a="http://schemas.openxmlformats.org/drawingml/2006/main">
              <a:ext uri="{FF2B5EF4-FFF2-40B4-BE49-F238E27FC236}">
                <a16:creationId xmlns:a16="http://schemas.microsoft.com/office/drawing/2014/main" id="{C1A06C53-1D6A-4A9C-BAF2-5CD7296B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04 / 08</a:t>
            </a:r>
          </a:p>
        </p:txBody>
      </p:sp>
      <p:sp>
        <p:nvSpPr>
          <p:cNvPr id="4" name="map-title">
            <a:extLst xmlns:a="http://schemas.openxmlformats.org/drawingml/2006/main">
              <a:ext uri="{FF2B5EF4-FFF2-40B4-BE49-F238E27FC236}">
                <a16:creationId xmlns:a16="http://schemas.microsoft.com/office/drawing/2014/main" id="{52755E5D-531C-42F8-A40A-71A742BB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75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375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The evidence trail stays visible.</a:t>
            </a:r>
          </a:p>
        </p:txBody>
      </p:sp>
      <p:sp>
        <p:nvSpPr>
          <p:cNvPr id="5" name="map-copy">
            <a:extLst xmlns:a="http://schemas.openxmlformats.org/drawingml/2006/main">
              <a:ext uri="{FF2B5EF4-FFF2-40B4-BE49-F238E27FC236}">
                <a16:creationId xmlns:a16="http://schemas.microsoft.com/office/drawing/2014/main" id="{C55572CE-AE59-4BF5-8B93-49378D8A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285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650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Source material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650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650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Evidence and reasoning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650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650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Manuscript</a:t>
            </a:r>
          </a:p>
        </p:txBody>
      </p:sp>
      <p:sp>
        <p:nvSpPr>
          <p:cNvPr id="6" name="map-note">
            <a:extLst xmlns:a="http://schemas.openxmlformats.org/drawingml/2006/main">
              <a:ext uri="{FF2B5EF4-FFF2-40B4-BE49-F238E27FC236}">
                <a16:creationId xmlns:a16="http://schemas.microsoft.com/office/drawing/2014/main" id="{879BD4B1-2704-4DEE-B5DD-EF50281B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371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Typed links keep publications, PDF annotations, claims, model candidates, sections, and documents inspectable as one project structure.</a:t>
            </a:r>
          </a:p>
        </p:txBody>
      </p:sp>
      <p:sp>
        <p:nvSpPr>
          <p:cNvPr id="7" name="evidence-map-screen-shadow">
            <a:extLst xmlns:a="http://schemas.openxmlformats.org/drawingml/2006/main">
              <a:ext uri="{FF2B5EF4-FFF2-40B4-BE49-F238E27FC236}">
                <a16:creationId xmlns:a16="http://schemas.microsoft.com/office/drawing/2014/main" id="{97B31C62-F506-4720-A528-3247A350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104900"/>
            <a:ext cx="6648450" cy="485775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map-screen-frame">
            <a:extLst xmlns:a="http://schemas.openxmlformats.org/drawingml/2006/main">
              <a:ext uri="{FF2B5EF4-FFF2-40B4-BE49-F238E27FC236}">
                <a16:creationId xmlns:a16="http://schemas.microsoft.com/office/drawing/2014/main" id="{694E75F0-3A12-417C-BE8F-F58B1A1CE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009650"/>
            <a:ext cx="6648450" cy="485775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af975866aa4f70"/>
          <a:srcRect xmlns:a="http://schemas.openxmlformats.org/drawingml/2006/main" l="4282" t="0" r="42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38700" y="1028700"/>
            <a:ext cx="6610350" cy="4819650"/>
          </a:xfrm>
          <a:prstGeom xmlns:a="http://schemas.openxmlformats.org/drawingml/2006/main" prst="roundRect">
            <a:avLst>
              <a:gd name="adj" fmla="val 2372"/>
            </a:avLst>
          </a:prstGeom>
        </p:spPr>
      </p:pic>
    </p:spTree>
    <p:extLst>
      <p:ext uri="{BB962C8B-B14F-4D97-AF65-F5344CB8AC3E}">
        <p14:creationId xmlns:p14="http://schemas.microsoft.com/office/powerpoint/2010/main" val="20416356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4F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5">
            <a:extLst xmlns:a="http://schemas.openxmlformats.org/drawingml/2006/main">
              <a:ext uri="{FF2B5EF4-FFF2-40B4-BE49-F238E27FC236}">
                <a16:creationId xmlns:a16="http://schemas.microsoft.com/office/drawing/2014/main" id="{1AAF4A45-7926-42B5-8BF4-FA57ED60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B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5">
            <a:extLst xmlns:a="http://schemas.openxmlformats.org/drawingml/2006/main">
              <a:ext uri="{FF2B5EF4-FFF2-40B4-BE49-F238E27FC236}">
                <a16:creationId xmlns:a16="http://schemas.microsoft.com/office/drawing/2014/main" id="{081E64D4-445C-4D37-B2B7-7D98EC31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THE MODEL BOUNDARY</a:t>
            </a:r>
          </a:p>
        </p:txBody>
      </p:sp>
      <p:sp>
        <p:nvSpPr>
          <p:cNvPr id="3" name="folio-5">
            <a:extLst xmlns:a="http://schemas.openxmlformats.org/drawingml/2006/main">
              <a:ext uri="{FF2B5EF4-FFF2-40B4-BE49-F238E27FC236}">
                <a16:creationId xmlns:a16="http://schemas.microsoft.com/office/drawing/2014/main" id="{339EFBB9-0F84-4BC0-ABEE-C8268742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05 / 08</a:t>
            </a:r>
          </a:p>
        </p:txBody>
      </p:sp>
      <p:sp>
        <p:nvSpPr>
          <p:cNvPr id="4" name="reviewable-ai-screen-shadow">
            <a:extLst xmlns:a="http://schemas.openxmlformats.org/drawingml/2006/main">
              <a:ext uri="{FF2B5EF4-FFF2-40B4-BE49-F238E27FC236}">
                <a16:creationId xmlns:a16="http://schemas.microsoft.com/office/drawing/2014/main" id="{B7B81D59-4A1D-4DF6-9F39-638E8280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00150"/>
            <a:ext cx="65151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viewable-ai-screen-frame">
            <a:extLst xmlns:a="http://schemas.openxmlformats.org/drawingml/2006/main">
              <a:ext uri="{FF2B5EF4-FFF2-40B4-BE49-F238E27FC236}">
                <a16:creationId xmlns:a16="http://schemas.microsoft.com/office/drawing/2014/main" id="{AA7C2F6C-1A63-49D5-B0DE-47DCA6439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65151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718B80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da4c8f8394c90"/>
          <a:srcRect xmlns:a="http://schemas.openxmlformats.org/drawingml/2006/main" l="3168" t="0" r="316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123950"/>
            <a:ext cx="6477000" cy="4610100"/>
          </a:xfrm>
          <a:prstGeom xmlns:a="http://schemas.openxmlformats.org/drawingml/2006/main" prst="roundRect">
            <a:avLst>
              <a:gd name="adj" fmla="val 2479"/>
            </a:avLst>
          </a:prstGeom>
        </p:spPr>
      </p:pic>
      <p:sp>
        <p:nvSpPr>
          <p:cNvPr id="7" name="ai-eyebrow">
            <a:extLst xmlns:a="http://schemas.openxmlformats.org/drawingml/2006/main">
              <a:ext uri="{FF2B5EF4-FFF2-40B4-BE49-F238E27FC236}">
                <a16:creationId xmlns:a16="http://schemas.microsoft.com/office/drawing/2014/main" id="{FCBCEB53-F9C9-4C90-BCB7-3FD087F01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2192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E59A76"/>
                </a:solidFill>
                <a:latin typeface="Inter"/>
                <a:ea typeface="Inter"/>
                <a:cs typeface="Inter"/>
              </a:defRPr>
            </a:pPr>
            <a:r>
              <a:rPr sz="1350" b="1" i="0">
                <a:solidFill>
                  <a:srgbClr val="E59A76"/>
                </a:solidFill>
                <a:latin typeface="Inter"/>
                <a:ea typeface="Inter"/>
                <a:cs typeface="Inter"/>
              </a:rPr>
              <a:t>AI PROPOSES</a:t>
            </a:r>
          </a:p>
        </p:txBody>
      </p:sp>
      <p:sp>
        <p:nvSpPr>
          <p:cNvPr id="8" name="ai-title">
            <a:extLst xmlns:a="http://schemas.openxmlformats.org/drawingml/2006/main">
              <a:ext uri="{FF2B5EF4-FFF2-40B4-BE49-F238E27FC236}">
                <a16:creationId xmlns:a16="http://schemas.microsoft.com/office/drawing/2014/main" id="{17D81CD1-BF9D-4926-B743-C90C3BBAE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657350"/>
            <a:ext cx="371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4200" b="1" i="0">
                <a:solidFill>
                  <a:srgbClr val="FFFDF7"/>
                </a:solidFill>
                <a:latin typeface="Georgia"/>
                <a:ea typeface="Georgia"/>
                <a:cs typeface="Georgia"/>
              </a:defRPr>
            </a:pPr>
            <a:r>
              <a:rPr sz="4200" b="1" i="0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The researcher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4200" b="1" i="0">
                <a:solidFill>
                  <a:srgbClr val="FFFDF7"/>
                </a:solidFill>
                <a:latin typeface="Georgia"/>
                <a:ea typeface="Georgia"/>
                <a:cs typeface="Georgia"/>
              </a:defRPr>
            </a:pPr>
            <a:r>
              <a:rPr sz="4200" b="1" i="0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decides.</a:t>
            </a:r>
          </a:p>
        </p:txBody>
      </p:sp>
      <p:sp>
        <p:nvSpPr>
          <p:cNvPr id="9" name="ai-list">
            <a:extLst xmlns:a="http://schemas.openxmlformats.org/drawingml/2006/main">
              <a:ext uri="{FF2B5EF4-FFF2-40B4-BE49-F238E27FC236}">
                <a16:creationId xmlns:a16="http://schemas.microsoft.com/office/drawing/2014/main" id="{BEB9A307-A778-46C2-B6F7-40DC7DD3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38550"/>
            <a:ext cx="36766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E0DA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E0DA"/>
                </a:solidFill>
                <a:latin typeface="Inter"/>
                <a:ea typeface="Inter"/>
                <a:cs typeface="Inter"/>
              </a:rPr>
              <a:t>- Explicit target and evidence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E0DA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E0DA"/>
                </a:solidFill>
                <a:latin typeface="Inter"/>
                <a:ea typeface="Inter"/>
                <a:cs typeface="Inter"/>
              </a:rPr>
              <a:t>- Recorded model identity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E0DA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E0DA"/>
                </a:solidFill>
                <a:latin typeface="Inter"/>
                <a:ea typeface="Inter"/>
                <a:cs typeface="Inter"/>
              </a:rPr>
              <a:t>- Reviewable candidate state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E0DA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E0DA"/>
                </a:solidFill>
                <a:latin typeface="Inter"/>
                <a:ea typeface="Inter"/>
                <a:cs typeface="Inter"/>
              </a:rPr>
              <a:t>- Accept, edit, or reject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E0DA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E0DA"/>
                </a:solidFill>
                <a:latin typeface="Inter"/>
                <a:ea typeface="Inter"/>
                <a:cs typeface="Inter"/>
              </a:rPr>
              <a:t>- No silent manuscript mutation</a:t>
            </a:r>
          </a:p>
        </p:txBody>
      </p:sp>
      <p:sp>
        <p:nvSpPr>
          <p:cNvPr id="10" name="ai-note">
            <a:extLst xmlns:a="http://schemas.openxmlformats.org/drawingml/2006/main">
              <a:ext uri="{FF2B5EF4-FFF2-40B4-BE49-F238E27FC236}">
                <a16:creationId xmlns:a16="http://schemas.microsoft.com/office/drawing/2014/main" id="{62C3E9C8-D5F6-4FC3-BC99-535496E1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391150"/>
            <a:ext cx="3714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Local-capable. Provider-neutral.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Human-disposed.</a:t>
            </a:r>
          </a:p>
        </p:txBody>
      </p:sp>
    </p:spTree>
    <p:extLst>
      <p:ext uri="{BB962C8B-B14F-4D97-AF65-F5344CB8AC3E}">
        <p14:creationId xmlns:p14="http://schemas.microsoft.com/office/powerpoint/2010/main" val="7681733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7E1D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6">
            <a:extLst xmlns:a="http://schemas.openxmlformats.org/drawingml/2006/main">
              <a:ext uri="{FF2B5EF4-FFF2-40B4-BE49-F238E27FC236}">
                <a16:creationId xmlns:a16="http://schemas.microsoft.com/office/drawing/2014/main" id="{89F62B56-D1AC-4C07-9E79-E508C99E0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6">
            <a:extLst xmlns:a="http://schemas.openxmlformats.org/drawingml/2006/main">
              <a:ext uri="{FF2B5EF4-FFF2-40B4-BE49-F238E27FC236}">
                <a16:creationId xmlns:a16="http://schemas.microsoft.com/office/drawing/2014/main" id="{0FFF6D9E-00D1-4BE7-A649-D711A70B0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DURABLE BY DESIGN</a:t>
            </a:r>
          </a:p>
        </p:txBody>
      </p:sp>
      <p:sp>
        <p:nvSpPr>
          <p:cNvPr id="3" name="folio-6">
            <a:extLst xmlns:a="http://schemas.openxmlformats.org/drawingml/2006/main">
              <a:ext uri="{FF2B5EF4-FFF2-40B4-BE49-F238E27FC236}">
                <a16:creationId xmlns:a16="http://schemas.microsoft.com/office/drawing/2014/main" id="{C3CC2296-D93F-4246-9E6E-16F58D1FC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06 / 08</a:t>
            </a:r>
          </a:p>
        </p:txBody>
      </p:sp>
      <p:sp>
        <p:nvSpPr>
          <p:cNvPr id="4" name="durable-title">
            <a:extLst xmlns:a="http://schemas.openxmlformats.org/drawingml/2006/main">
              <a:ext uri="{FF2B5EF4-FFF2-40B4-BE49-F238E27FC236}">
                <a16:creationId xmlns:a16="http://schemas.microsoft.com/office/drawing/2014/main" id="{720ABA1C-27A0-4EB4-B722-93875B6A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9525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75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The work remains yours.</a:t>
            </a:r>
          </a:p>
        </p:txBody>
      </p:sp>
      <p:sp>
        <p:nvSpPr>
          <p:cNvPr id="5" name="durable-lead">
            <a:extLst xmlns:a="http://schemas.openxmlformats.org/drawingml/2006/main">
              <a:ext uri="{FF2B5EF4-FFF2-40B4-BE49-F238E27FC236}">
                <a16:creationId xmlns:a16="http://schemas.microsoft.com/office/drawing/2014/main" id="{1A40C2F6-57F9-4ADD-BEA5-693AB5BF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Scoped collaboration and rich runtime state end in ordinary, recoverable research artifacts.</a:t>
            </a:r>
          </a:p>
        </p:txBody>
      </p:sp>
      <p:sp>
        <p:nvSpPr>
          <p:cNvPr id="6" name="shared-editor-screen-shadow">
            <a:extLst xmlns:a="http://schemas.openxmlformats.org/drawingml/2006/main">
              <a:ext uri="{FF2B5EF4-FFF2-40B4-BE49-F238E27FC236}">
                <a16:creationId xmlns:a16="http://schemas.microsoft.com/office/drawing/2014/main" id="{72DCFBF8-DED6-4B2D-A2AF-CB241DA1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6220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red-editor-screen-frame">
            <a:extLst xmlns:a="http://schemas.openxmlformats.org/drawingml/2006/main">
              <a:ext uri="{FF2B5EF4-FFF2-40B4-BE49-F238E27FC236}">
                <a16:creationId xmlns:a16="http://schemas.microsoft.com/office/drawing/2014/main" id="{41591AE3-E470-4EEB-9A54-C1124A62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66d3f205b42b7"/>
          <a:srcRect xmlns:a="http://schemas.openxmlformats.org/drawingml/2006/main" l="0" t="6063" r="0" b="6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86000"/>
            <a:ext cx="5105400" cy="2990850"/>
          </a:xfrm>
          <a:prstGeom xmlns:a="http://schemas.openxmlformats.org/drawingml/2006/main" prst="roundRect">
            <a:avLst>
              <a:gd name="adj" fmla="val 3822"/>
            </a:avLst>
          </a:prstGeom>
        </p:spPr>
      </p:pic>
      <p:sp>
        <p:nvSpPr>
          <p:cNvPr id="9" name="portable-export-screen-shadow">
            <a:extLst xmlns:a="http://schemas.openxmlformats.org/drawingml/2006/main">
              <a:ext uri="{FF2B5EF4-FFF2-40B4-BE49-F238E27FC236}">
                <a16:creationId xmlns:a16="http://schemas.microsoft.com/office/drawing/2014/main" id="{21E8DD41-A477-436D-8796-117E29AC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6220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00000">
              <a:alpha val="9412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ortable-export-screen-frame">
            <a:extLst xmlns:a="http://schemas.openxmlformats.org/drawingml/2006/main">
              <a:ext uri="{FF2B5EF4-FFF2-40B4-BE49-F238E27FC236}">
                <a16:creationId xmlns:a16="http://schemas.microsoft.com/office/drawing/2014/main" id="{C31E0938-EE9B-40BC-951D-4484A0C5C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51435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1707e03f9423e"/>
          <a:srcRect xmlns:a="http://schemas.openxmlformats.org/drawingml/2006/main" l="0" t="6063" r="0" b="60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43650" y="2286000"/>
            <a:ext cx="5105400" cy="2990850"/>
          </a:xfrm>
          <a:prstGeom xmlns:a="http://schemas.openxmlformats.org/drawingml/2006/main" prst="roundRect">
            <a:avLst>
              <a:gd name="adj" fmla="val 3822"/>
            </a:avLst>
          </a:prstGeom>
        </p:spPr>
      </p:pic>
      <p:sp>
        <p:nvSpPr>
          <p:cNvPr id="12" name="shared-caption">
            <a:extLst xmlns:a="http://schemas.openxmlformats.org/drawingml/2006/main">
              <a:ext uri="{FF2B5EF4-FFF2-40B4-BE49-F238E27FC236}">
                <a16:creationId xmlns:a16="http://schemas.microsoft.com/office/drawing/2014/main" id="{D07147A9-3AF6-461A-8B79-55D9DEC9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67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COLLABORATE  ·  SCOPED READ OR EDIT LINKS</a:t>
            </a:r>
          </a:p>
        </p:txBody>
      </p:sp>
      <p:sp>
        <p:nvSpPr>
          <p:cNvPr id="13" name="export-caption">
            <a:extLst xmlns:a="http://schemas.openxmlformats.org/drawingml/2006/main">
              <a:ext uri="{FF2B5EF4-FFF2-40B4-BE49-F238E27FC236}">
                <a16:creationId xmlns:a16="http://schemas.microsoft.com/office/drawing/2014/main" id="{ED76D5CC-D6F5-46EE-83A7-5A8B3B2D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67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EXPORT  ·  PDF, LATEX, MARKDOWN, BIBTEX, SOURCE</a:t>
            </a:r>
          </a:p>
        </p:txBody>
      </p:sp>
    </p:spTree>
    <p:extLst>
      <p:ext uri="{BB962C8B-B14F-4D97-AF65-F5344CB8AC3E}">
        <p14:creationId xmlns:p14="http://schemas.microsoft.com/office/powerpoint/2010/main" val="29589461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7">
            <a:extLst xmlns:a="http://schemas.openxmlformats.org/drawingml/2006/main">
              <a:ext uri="{FF2B5EF4-FFF2-40B4-BE49-F238E27FC236}">
                <a16:creationId xmlns:a16="http://schemas.microsoft.com/office/drawing/2014/main" id="{D05D70F3-1A83-4DE7-A420-54EFA567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7">
            <a:extLst xmlns:a="http://schemas.openxmlformats.org/drawingml/2006/main">
              <a:ext uri="{FF2B5EF4-FFF2-40B4-BE49-F238E27FC236}">
                <a16:creationId xmlns:a16="http://schemas.microsoft.com/office/drawing/2014/main" id="{6E628D6C-91D2-41CC-B6BF-7C8C7293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SUBMISSION-PERIOD SCOPE</a:t>
            </a:r>
          </a:p>
        </p:txBody>
      </p:sp>
      <p:sp>
        <p:nvSpPr>
          <p:cNvPr id="3" name="folio-7">
            <a:extLst xmlns:a="http://schemas.openxmlformats.org/drawingml/2006/main">
              <a:ext uri="{FF2B5EF4-FFF2-40B4-BE49-F238E27FC236}">
                <a16:creationId xmlns:a16="http://schemas.microsoft.com/office/drawing/2014/main" id="{FC9ABB18-A307-4561-8228-63DD79F4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07 / 08</a:t>
            </a:r>
          </a:p>
        </p:txBody>
      </p:sp>
      <p:sp>
        <p:nvSpPr>
          <p:cNvPr id="4" name="scope-title">
            <a:extLst xmlns:a="http://schemas.openxmlformats.org/drawingml/2006/main">
              <a:ext uri="{FF2B5EF4-FFF2-40B4-BE49-F238E27FC236}">
                <a16:creationId xmlns:a16="http://schemas.microsoft.com/office/drawing/2014/main" id="{246FF575-968C-48E5-858D-C6B69F61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715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36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Build Week integrated the product.</a:t>
            </a:r>
          </a:p>
        </p:txBody>
      </p:sp>
      <p:sp>
        <p:nvSpPr>
          <p:cNvPr id="5" name="scope-lead">
            <a:extLst xmlns:a="http://schemas.openxmlformats.org/drawingml/2006/main">
              <a:ext uri="{FF2B5EF4-FFF2-40B4-BE49-F238E27FC236}">
                <a16:creationId xmlns:a16="http://schemas.microsoft.com/office/drawing/2014/main" id="{2915E652-84E5-4795-A8C7-DCB42BAA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The entry shows the complete product while distinguishing pre-period foundations from the submission-period implementation.</a:t>
            </a:r>
          </a:p>
        </p:txBody>
      </p:sp>
      <p:sp>
        <p:nvSpPr>
          <p:cNvPr id="6" name="scope-divider">
            <a:extLst xmlns:a="http://schemas.openxmlformats.org/drawingml/2006/main">
              <a:ext uri="{FF2B5EF4-FFF2-40B4-BE49-F238E27FC236}">
                <a16:creationId xmlns:a16="http://schemas.microsoft.com/office/drawing/2014/main" id="{F7DF63A0-A9DB-4DD8-BF24-EAA22333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43150"/>
            <a:ext cx="190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2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undation-label">
            <a:extLst xmlns:a="http://schemas.openxmlformats.org/drawingml/2006/main">
              <a:ext uri="{FF2B5EF4-FFF2-40B4-BE49-F238E27FC236}">
                <a16:creationId xmlns:a16="http://schemas.microsoft.com/office/drawing/2014/main" id="{16B8B22B-DB09-4438-B418-6FD94858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B65331"/>
                </a:solidFill>
                <a:latin typeface="Inter"/>
                <a:ea typeface="Inter"/>
                <a:cs typeface="Inter"/>
              </a:defRPr>
            </a:pPr>
            <a:r>
              <a:rPr sz="1350" b="1" i="0">
                <a:solidFill>
                  <a:srgbClr val="B65331"/>
                </a:solidFill>
                <a:latin typeface="Inter"/>
                <a:ea typeface="Inter"/>
                <a:cs typeface="Inter"/>
              </a:rPr>
              <a:t>FOUNDATION BEFORE JULY 13</a:t>
            </a:r>
          </a:p>
        </p:txBody>
      </p:sp>
      <p:sp>
        <p:nvSpPr>
          <p:cNvPr id="8" name="foundation-title">
            <a:extLst xmlns:a="http://schemas.openxmlformats.org/drawingml/2006/main">
              <a:ext uri="{FF2B5EF4-FFF2-40B4-BE49-F238E27FC236}">
                <a16:creationId xmlns:a16="http://schemas.microsoft.com/office/drawing/2014/main" id="{8589314A-12D9-410F-AF43-4571100C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4572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Portable authoring and collaboration</a:t>
            </a:r>
          </a:p>
        </p:txBody>
      </p:sp>
      <p:sp>
        <p:nvSpPr>
          <p:cNvPr id="9" name="foundation-list">
            <a:extLst xmlns:a="http://schemas.openxmlformats.org/drawingml/2006/main">
              <a:ext uri="{FF2B5EF4-FFF2-40B4-BE49-F238E27FC236}">
                <a16:creationId xmlns:a16="http://schemas.microsoft.com/office/drawing/2014/main" id="{3EC889FD-CC27-4BDC-B883-ED858B27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Markdown workspace and scientific preview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Yjs collaboration and project recovery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Reference library, PDF reader, and evidence links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General local-model provider boundary</a:t>
            </a:r>
          </a:p>
        </p:txBody>
      </p:sp>
      <p:sp>
        <p:nvSpPr>
          <p:cNvPr id="10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09141D88-4219-410B-B01E-59B9A6A7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81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174F3D"/>
                </a:solidFill>
                <a:latin typeface="Inter"/>
                <a:ea typeface="Inter"/>
                <a:cs typeface="Inter"/>
              </a:defRPr>
            </a:pPr>
            <a:r>
              <a:rPr sz="1350" b="1" i="0">
                <a:solidFill>
                  <a:srgbClr val="174F3D"/>
                </a:solidFill>
                <a:latin typeface="Inter"/>
                <a:ea typeface="Inter"/>
                <a:cs typeface="Inter"/>
              </a:rPr>
              <a:t>REVIEWED RANGE · JULY 13-19</a:t>
            </a:r>
          </a:p>
        </p:txBody>
      </p:sp>
      <p:sp>
        <p:nvSpPr>
          <p:cNvPr id="11" name="period-title">
            <a:extLst xmlns:a="http://schemas.openxmlformats.org/drawingml/2006/main">
              <a:ext uri="{FF2B5EF4-FFF2-40B4-BE49-F238E27FC236}">
                <a16:creationId xmlns:a16="http://schemas.microsoft.com/office/drawing/2014/main" id="{58CE6E22-41BE-49A6-957A-7AA77005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194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20211E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20211E"/>
                </a:solidFill>
                <a:latin typeface="Georgia"/>
                <a:ea typeface="Georgia"/>
                <a:cs typeface="Georgia"/>
              </a:rPr>
              <a:t>One inspectable research-to-prose system</a:t>
            </a:r>
          </a:p>
        </p:txBody>
      </p:sp>
      <p:sp>
        <p:nvSpPr>
          <p:cNvPr id="12" name="period-list">
            <a:extLst xmlns:a="http://schemas.openxmlformats.org/drawingml/2006/main">
              <a:ext uri="{FF2B5EF4-FFF2-40B4-BE49-F238E27FC236}">
                <a16:creationId xmlns:a16="http://schemas.microsoft.com/office/drawing/2014/main" id="{A8DF844A-68E1-45D8-BB84-2F489E23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147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Unified research context and evidence map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Evidence-backed claims and typed model tasks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Scoped sharing, imports, exports, and recovery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1500" b="0" i="0">
                <a:solidFill>
                  <a:srgbClr val="676860"/>
                </a:solidFill>
                <a:latin typeface="Inter"/>
                <a:ea typeface="Inter"/>
                <a:cs typeface="Inter"/>
              </a:defRPr>
            </a:pPr>
            <a:r>
              <a:rPr sz="1500" b="0" i="0">
                <a:solidFill>
                  <a:srgbClr val="676860"/>
                </a:solidFill>
                <a:latin typeface="Inter"/>
                <a:ea typeface="Inter"/>
                <a:cs typeface="Inter"/>
              </a:rPr>
              <a:t>- Independent reviews plus browser audits</a:t>
            </a:r>
          </a:p>
        </p:txBody>
      </p:sp>
      <p:sp>
        <p:nvSpPr>
          <p:cNvPr id="13" name="scope-verification-band">
            <a:extLst xmlns:a="http://schemas.openxmlformats.org/drawingml/2006/main">
              <a:ext uri="{FF2B5EF4-FFF2-40B4-BE49-F238E27FC236}">
                <a16:creationId xmlns:a16="http://schemas.microsoft.com/office/drawing/2014/main" id="{AE658A70-6792-4802-A2D5-C0FF6CAD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00700"/>
            <a:ext cx="10744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8"/>
          </a:solidFill>
          <a:ln xmlns:a="http://schemas.openxmlformats.org/drawingml/2006/main" w="9525">
            <a:solidFill>
              <a:srgbClr val="C8C2B6"/>
            </a:solidFill>
            <a:prstDash val="solid"/>
          </a:ln>
        </p:spPr>
      </p:sp>
      <p:sp>
        <p:nvSpPr>
          <p:cNvPr id="14" name="scope-range">
            <a:extLst xmlns:a="http://schemas.openxmlformats.org/drawingml/2006/main">
              <a:ext uri="{FF2B5EF4-FFF2-40B4-BE49-F238E27FC236}">
                <a16:creationId xmlns:a16="http://schemas.microsoft.com/office/drawing/2014/main" id="{F98E0E9E-652B-4315-B714-BD2F57EB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81675"/>
            <a:ext cx="466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 i="0">
                <a:solidFill>
                  <a:srgbClr val="676860"/>
                </a:solidFill>
                <a:latin typeface="Fira Code"/>
                <a:ea typeface="Fira Code"/>
                <a:cs typeface="Fira Code"/>
              </a:defRPr>
            </a:pPr>
            <a:r>
              <a:rPr sz="1200" b="1" i="0">
                <a:solidFill>
                  <a:srgbClr val="676860"/>
                </a:solidFill>
                <a:latin typeface="Fira Code"/>
                <a:ea typeface="Fira Code"/>
                <a:cs typeface="Fira Code"/>
              </a:rPr>
              <a:t>CORE PRODUCT RANGE  e6a7bdf..99f51e5</a:t>
            </a:r>
          </a:p>
        </p:txBody>
      </p:sp>
      <p:sp>
        <p:nvSpPr>
          <p:cNvPr id="15" name="scope-tests">
            <a:extLst xmlns:a="http://schemas.openxmlformats.org/drawingml/2006/main">
              <a:ext uri="{FF2B5EF4-FFF2-40B4-BE49-F238E27FC236}">
                <a16:creationId xmlns:a16="http://schemas.microsoft.com/office/drawing/2014/main" id="{B49EE466-E51B-4205-B2AB-84E75B45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781675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1200" b="1" i="0">
                <a:solidFill>
                  <a:srgbClr val="174F3D"/>
                </a:solidFill>
                <a:latin typeface="Fira Code"/>
                <a:ea typeface="Fira Code"/>
                <a:cs typeface="Fira Code"/>
              </a:defRPr>
            </a:pPr>
            <a:r>
              <a:rPr sz="1200" b="1" i="0">
                <a:solidFill>
                  <a:srgbClr val="174F3D"/>
                </a:solidFill>
                <a:latin typeface="Fira Code"/>
                <a:ea typeface="Fira Code"/>
                <a:cs typeface="Fira Code"/>
              </a:rPr>
              <a:t>798 UNIT  |  116 WORKERS RUNTIME  |  65 BROWSER TESTS</a:t>
            </a:r>
          </a:p>
        </p:txBody>
      </p:sp>
    </p:spTree>
    <p:extLst>
      <p:ext uri="{BB962C8B-B14F-4D97-AF65-F5344CB8AC3E}">
        <p14:creationId xmlns:p14="http://schemas.microsoft.com/office/powerpoint/2010/main" val="14361865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021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op-rule-8">
            <a:extLst xmlns:a="http://schemas.openxmlformats.org/drawingml/2006/main">
              <a:ext uri="{FF2B5EF4-FFF2-40B4-BE49-F238E27FC236}">
                <a16:creationId xmlns:a16="http://schemas.microsoft.com/office/drawing/2014/main" id="{14E8AF27-36FA-48FC-AE09-C5D27E2E0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8B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eyebrow-8">
            <a:extLst xmlns:a="http://schemas.openxmlformats.org/drawingml/2006/main">
              <a:ext uri="{FF2B5EF4-FFF2-40B4-BE49-F238E27FC236}">
                <a16:creationId xmlns:a16="http://schemas.microsoft.com/office/drawing/2014/main" id="{D39BC81C-C866-4C53-AA2C-57BFE6C6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HOW THE PROJECT WAS BUILT</a:t>
            </a:r>
          </a:p>
        </p:txBody>
      </p:sp>
      <p:sp>
        <p:nvSpPr>
          <p:cNvPr id="3" name="folio-8">
            <a:extLst xmlns:a="http://schemas.openxmlformats.org/drawingml/2006/main">
              <a:ext uri="{FF2B5EF4-FFF2-40B4-BE49-F238E27FC236}">
                <a16:creationId xmlns:a16="http://schemas.microsoft.com/office/drawing/2014/main" id="{0B0DC203-3C40-4E68-93F3-4DB00EE8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125" b="1" i="0">
                <a:solidFill>
                  <a:srgbClr val="A8C0B5"/>
                </a:solidFill>
                <a:latin typeface="Inter"/>
                <a:ea typeface="Inter"/>
                <a:cs typeface="Inter"/>
              </a:defRPr>
            </a:pPr>
            <a:r>
              <a:rPr sz="1125" b="1" i="0">
                <a:solidFill>
                  <a:srgbClr val="A8C0B5"/>
                </a:solidFill>
                <a:latin typeface="Inter"/>
                <a:ea typeface="Inter"/>
                <a:cs typeface="Inter"/>
              </a:rPr>
              <a:t>08 / 08</a:t>
            </a:r>
          </a:p>
        </p:txBody>
      </p:sp>
      <p:sp>
        <p:nvSpPr>
          <p:cNvPr id="4" name="codex-title">
            <a:extLst xmlns:a="http://schemas.openxmlformats.org/drawingml/2006/main">
              <a:ext uri="{FF2B5EF4-FFF2-40B4-BE49-F238E27FC236}">
                <a16:creationId xmlns:a16="http://schemas.microsoft.com/office/drawing/2014/main" id="{5A730B36-EC68-4E98-BD49-95AEC703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90600"/>
            <a:ext cx="9906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675" b="1" i="0">
                <a:solidFill>
                  <a:srgbClr val="FFFDF7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Codex accelerated the build.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675" b="1" i="0">
                <a:solidFill>
                  <a:srgbClr val="FFFDF7"/>
                </a:solidFill>
                <a:latin typeface="Georgia"/>
                <a:ea typeface="Georgia"/>
                <a:cs typeface="Georgia"/>
              </a:defRPr>
            </a:pPr>
            <a:r>
              <a:rPr sz="3675" b="1" i="0">
                <a:solidFill>
                  <a:srgbClr val="FFFDF7"/>
                </a:solidFill>
                <a:latin typeface="Georgia"/>
                <a:ea typeface="Georgia"/>
                <a:cs typeface="Georgia"/>
              </a:rPr>
              <a:t>Human judgment set the boundaries.</a:t>
            </a:r>
          </a:p>
        </p:txBody>
      </p:sp>
      <p:sp>
        <p:nvSpPr>
          <p:cNvPr id="5" name="codex-label">
            <a:extLst xmlns:a="http://schemas.openxmlformats.org/drawingml/2006/main">
              <a:ext uri="{FF2B5EF4-FFF2-40B4-BE49-F238E27FC236}">
                <a16:creationId xmlns:a16="http://schemas.microsoft.com/office/drawing/2014/main" id="{9B923806-801E-40AA-9164-2312DAE1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 i="0">
                <a:solidFill>
                  <a:srgbClr val="E59A76"/>
                </a:solidFill>
                <a:latin typeface="Inter"/>
                <a:ea typeface="Inter"/>
                <a:cs typeface="Inter"/>
              </a:defRPr>
            </a:pPr>
            <a:r>
              <a:rPr sz="1350" b="1" i="0">
                <a:solidFill>
                  <a:srgbClr val="E59A76"/>
                </a:solidFill>
                <a:latin typeface="Inter"/>
                <a:ea typeface="Inter"/>
                <a:cs typeface="Inter"/>
              </a:rPr>
              <a:t>GPT-5.6 VIA CODEX</a:t>
            </a:r>
          </a:p>
        </p:txBody>
      </p:sp>
      <p:sp>
        <p:nvSpPr>
          <p:cNvPr id="6" name="codex-model">
            <a:extLst xmlns:a="http://schemas.openxmlformats.org/drawingml/2006/main">
              <a:ext uri="{FF2B5EF4-FFF2-40B4-BE49-F238E27FC236}">
                <a16:creationId xmlns:a16="http://schemas.microsoft.com/office/drawing/2014/main" id="{20C8836F-047A-4E9A-AB3D-05953EF6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550" b="1" i="0">
                <a:solidFill>
                  <a:srgbClr val="FFFDF7"/>
                </a:solidFill>
                <a:latin typeface="Fira Code"/>
                <a:ea typeface="Fira Code"/>
                <a:cs typeface="Fira Code"/>
              </a:defRPr>
            </a:pPr>
            <a:r>
              <a:rPr sz="2550" b="1" i="0">
                <a:solidFill>
                  <a:srgbClr val="FFFDF7"/>
                </a:solidFill>
                <a:latin typeface="Fira Code"/>
                <a:ea typeface="Fira Code"/>
                <a:cs typeface="Fira Code"/>
              </a:rPr>
              <a:t>gpt-5.6-sol</a:t>
            </a:r>
          </a:p>
        </p:txBody>
      </p:sp>
      <p:sp>
        <p:nvSpPr>
          <p:cNvPr id="7" name="codex-session">
            <a:extLst xmlns:a="http://schemas.openxmlformats.org/drawingml/2006/main">
              <a:ext uri="{FF2B5EF4-FFF2-40B4-BE49-F238E27FC236}">
                <a16:creationId xmlns:a16="http://schemas.microsoft.com/office/drawing/2014/main" id="{ADF850E8-1E1E-401E-8B4E-635E5ADB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200" b="1" i="0">
                <a:solidFill>
                  <a:srgbClr val="A8C0B5"/>
                </a:solidFill>
                <a:latin typeface="Fira Code"/>
                <a:ea typeface="Fira Code"/>
                <a:cs typeface="Fira Code"/>
              </a:defRPr>
            </a:pPr>
            <a:r>
              <a:rPr sz="1200" b="1" i="0">
                <a:solidFill>
                  <a:srgbClr val="A8C0B5"/>
                </a:solidFill>
                <a:latin typeface="Fira Code"/>
                <a:ea typeface="Fira Code"/>
                <a:cs typeface="Fira Code"/>
              </a:rPr>
              <a:t>QUALIFYING /feedback SESSION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200" b="1" i="0">
                <a:solidFill>
                  <a:srgbClr val="A8C0B5"/>
                </a:solidFill>
                <a:latin typeface="Fira Code"/>
                <a:ea typeface="Fira Code"/>
                <a:cs typeface="Fira Code"/>
              </a:defRPr>
            </a:pPr>
            <a:r>
              <a:rPr sz="1200" b="1" i="0">
                <a:solidFill>
                  <a:srgbClr val="A8C0B5"/>
                </a:solidFill>
                <a:latin typeface="Fira Code"/>
                <a:ea typeface="Fira Code"/>
                <a:cs typeface="Fira Code"/>
              </a:rPr>
              <a:t>019f6472-5ece-7cd3-b66f-ba344ba9e812</a:t>
            </a:r>
          </a:p>
        </p:txBody>
      </p:sp>
      <p:sp>
        <p:nvSpPr>
          <p:cNvPr id="8" name="codex-role">
            <a:extLst xmlns:a="http://schemas.openxmlformats.org/drawingml/2006/main">
              <a:ext uri="{FF2B5EF4-FFF2-40B4-BE49-F238E27FC236}">
                <a16:creationId xmlns:a16="http://schemas.microsoft.com/office/drawing/2014/main" id="{C01C300B-556A-4C61-822B-C8BD9122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D6CF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D6CF"/>
                </a:solidFill>
                <a:latin typeface="Inter"/>
                <a:ea typeface="Inter"/>
                <a:cs typeface="Inter"/>
              </a:rPr>
              <a:t>Codex inspected the existing system, proposed focused changes, implemented features, added tests, and repeated browser-based UI reviews.</a:t>
            </a:r>
          </a:p>
        </p:txBody>
      </p:sp>
      <p:sp>
        <p:nvSpPr>
          <p:cNvPr id="9" name="human-role">
            <a:extLst xmlns:a="http://schemas.openxmlformats.org/drawingml/2006/main">
              <a:ext uri="{FF2B5EF4-FFF2-40B4-BE49-F238E27FC236}">
                <a16:creationId xmlns:a16="http://schemas.microsoft.com/office/drawing/2014/main" id="{61D8BD08-4EB9-4AE1-A4F3-6598015C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514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 i="0">
                <a:solidFill>
                  <a:srgbClr val="D6D6CF"/>
                </a:solidFill>
                <a:latin typeface="Inter"/>
                <a:ea typeface="Inter"/>
                <a:cs typeface="Inter"/>
              </a:defRPr>
            </a:pPr>
            <a:r>
              <a:rPr sz="1575" b="0" i="0">
                <a:solidFill>
                  <a:srgbClr val="D6D6CF"/>
                </a:solidFill>
                <a:latin typeface="Inter"/>
                <a:ea typeface="Inter"/>
                <a:cs typeface="Inter"/>
              </a:rPr>
              <a:t>The author retained product direction, architecture, provenance rules, the human-disposition boundary, acceptance decisions, and final review.</a:t>
            </a:r>
          </a:p>
        </p:txBody>
      </p:sp>
      <p:sp>
        <p:nvSpPr>
          <p:cNvPr id="10" name="judge-action">
            <a:extLst xmlns:a="http://schemas.openxmlformats.org/drawingml/2006/main">
              <a:ext uri="{FF2B5EF4-FFF2-40B4-BE49-F238E27FC236}">
                <a16:creationId xmlns:a16="http://schemas.microsoft.com/office/drawing/2014/main" id="{04B220E5-F716-4BD5-8373-A5D23391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29200"/>
            <a:ext cx="10744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po-link">
            <a:extLst xmlns:a="http://schemas.openxmlformats.org/drawingml/2006/main">
              <a:ext uri="{FF2B5EF4-FFF2-40B4-BE49-F238E27FC236}">
                <a16:creationId xmlns:a16="http://schemas.microsoft.com/office/drawing/2014/main" id="{E795AA1C-624C-428A-A296-E003EA28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57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 i="0">
                <a:solidFill>
                  <a:srgbClr val="174F3D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74F3D"/>
                </a:solidFill>
                <a:latin typeface="Georgia"/>
                <a:ea typeface="Georgia"/>
                <a:cs typeface="Georgia"/>
                <a:hlinkClick xmlns:r="http://schemas.openxmlformats.org/officeDocument/2006/relationships" r:id="Rfaacbd575e664daa"/>
              </a:rPr>
              <a:t>github.com/bebraw/kirjolab</a:t>
            </a:r>
          </a:p>
        </p:txBody>
      </p:sp>
      <p:sp>
        <p:nvSpPr>
          <p:cNvPr id="12" name="guide-link">
            <a:extLst xmlns:a="http://schemas.openxmlformats.org/drawingml/2006/main">
              <a:ext uri="{FF2B5EF4-FFF2-40B4-BE49-F238E27FC236}">
                <a16:creationId xmlns:a16="http://schemas.microsoft.com/office/drawing/2014/main" id="{C2E7C870-28B1-477A-B6C1-96CAEA9A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 i="0">
                <a:solidFill>
                  <a:srgbClr val="174F3D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174F3D"/>
                </a:solidFill>
                <a:latin typeface="Georgia"/>
                <a:ea typeface="Georgia"/>
                <a:cs typeface="Georgia"/>
                <a:hlinkClick xmlns:r="http://schemas.openxmlformats.org/officeDocument/2006/relationships" r:id="Rb5f5a618fd154170"/>
              </a:rPr>
              <a:t>Open the judge walkthrough</a:t>
            </a:r>
          </a:p>
        </p:txBody>
      </p:sp>
      <p:sp>
        <p:nvSpPr>
          <p:cNvPr id="13" name="run-command">
            <a:extLst xmlns:a="http://schemas.openxmlformats.org/drawingml/2006/main">
              <a:ext uri="{FF2B5EF4-FFF2-40B4-BE49-F238E27FC236}">
                <a16:creationId xmlns:a16="http://schemas.microsoft.com/office/drawing/2014/main" id="{7FA27FB6-5375-48FA-AC84-41659BB55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7150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 i="0">
                <a:solidFill>
                  <a:srgbClr val="676860"/>
                </a:solidFill>
                <a:latin typeface="Fira Code"/>
                <a:ea typeface="Fira Code"/>
                <a:cs typeface="Fira Code"/>
              </a:defRPr>
            </a:pPr>
            <a:r>
              <a:rPr sz="1200" b="1" i="0">
                <a:solidFill>
                  <a:srgbClr val="676860"/>
                </a:solidFill>
                <a:latin typeface="Fira Code"/>
                <a:ea typeface="Fira Code"/>
                <a:cs typeface="Fira Code"/>
              </a:rPr>
              <a:t>nvm use  |  npm install  |  npm run dev</a:t>
            </a:r>
          </a:p>
        </p:txBody>
      </p:sp>
      <p:sp>
        <p:nvSpPr>
          <p:cNvPr id="14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6011F2A1-42DC-4E18-A466-F759CA6D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150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 i="0">
                <a:solidFill>
                  <a:srgbClr val="B65331"/>
                </a:solidFill>
                <a:latin typeface="Inter"/>
                <a:ea typeface="Inter"/>
                <a:cs typeface="Inter"/>
              </a:defRPr>
            </a:pPr>
            <a:r>
              <a:rPr sz="1275" b="1" i="0">
                <a:solidFill>
                  <a:srgbClr val="B65331"/>
                </a:solidFill>
                <a:latin typeface="Inter"/>
                <a:ea typeface="Inter"/>
                <a:cs typeface="Inter"/>
              </a:rPr>
              <a:t>Inspect the trail. Keep the source. Decide what changes.</a:t>
            </a:r>
          </a:p>
        </p:txBody>
      </p:sp>
    </p:spTree>
    <p:extLst>
      <p:ext uri="{BB962C8B-B14F-4D97-AF65-F5344CB8AC3E}">
        <p14:creationId xmlns:p14="http://schemas.microsoft.com/office/powerpoint/2010/main" val="2098230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2026-07-19T17:25:48.5460000Z</dcterms:created>
  <dcterms:modified xsi:type="dcterms:W3CDTF">2026-07-19T17:25:48.5460000Z</dcterms:modified>
</coreProperties>
</file>