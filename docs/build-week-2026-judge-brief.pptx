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5e8f48390c4e97" /><Relationship Type="http://schemas.openxmlformats.org/officeDocument/2006/relationships/extended-properties" Target="/docProps/app.xml" Id="Re03cfa0fce82426f" /><Relationship Type="http://schemas.openxmlformats.org/officeDocument/2006/relationships/officeDocument" Target="/ppt/presentation.xml" Id="Rd89a281eb6024d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798742985f492f"/>
  </p:sldMasterIdLst>
  <p:notesMasterIdLst>
    <p:notesMasterId xmlns:r="http://schemas.openxmlformats.org/officeDocument/2006/relationships" r:id="R1852ed211a0d4107"/>
  </p:notesMasterIdLst>
  <p:sldIdLst>
    <p:sldId xmlns:r="http://schemas.openxmlformats.org/officeDocument/2006/relationships" id="256" r:id="R818f0110bb524ae1"/>
    <p:sldId xmlns:r="http://schemas.openxmlformats.org/officeDocument/2006/relationships" id="257" r:id="R4e5e48bf29ee4af6"/>
    <p:sldId xmlns:r="http://schemas.openxmlformats.org/officeDocument/2006/relationships" id="258" r:id="R64eb8ba8f6724055"/>
    <p:sldId xmlns:r="http://schemas.openxmlformats.org/officeDocument/2006/relationships" id="259" r:id="R8eae8ca0dc5b40f2"/>
    <p:sldId xmlns:r="http://schemas.openxmlformats.org/officeDocument/2006/relationships" id="260" r:id="Rbfa2860ab5c2490f"/>
    <p:sldId xmlns:r="http://schemas.openxmlformats.org/officeDocument/2006/relationships" id="261" r:id="R77a2ff7098614840"/>
    <p:sldId xmlns:r="http://schemas.openxmlformats.org/officeDocument/2006/relationships" id="262" r:id="R3ff825088af94077"/>
    <p:sldId xmlns:r="http://schemas.openxmlformats.org/officeDocument/2006/relationships" id="263" r:id="R0e6c2c1b670a44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21f1e3f3f54ce1" /><Relationship Type="http://schemas.openxmlformats.org/officeDocument/2006/relationships/slideMaster" Target="/ppt/slideMasters/slideMaster1.xml" Id="Rbb798742985f492f" /><Relationship Type="http://schemas.openxmlformats.org/officeDocument/2006/relationships/notesMaster" Target="/ppt/notesMasters/notesMaster1.xml" Id="R1852ed211a0d4107" /><Relationship Type="http://schemas.openxmlformats.org/officeDocument/2006/relationships/presProps" Target="/ppt/presProps.xml" Id="Ra89e4708b38c47fb" /><Relationship Type="http://schemas.openxmlformats.org/officeDocument/2006/relationships/tableStyles" Target="/ppt/tableStyles.xml" Id="R848ebc81f60f44c8" /><Relationship Type="http://schemas.openxmlformats.org/officeDocument/2006/relationships/slide" Target="/ppt/slides/slide1.xml" Id="R818f0110bb524ae1" /><Relationship Type="http://schemas.openxmlformats.org/officeDocument/2006/relationships/slide" Target="/ppt/slides/slide2.xml" Id="R4e5e48bf29ee4af6" /><Relationship Type="http://schemas.openxmlformats.org/officeDocument/2006/relationships/slide" Target="/ppt/slides/slide3.xml" Id="R64eb8ba8f6724055" /><Relationship Type="http://schemas.openxmlformats.org/officeDocument/2006/relationships/slide" Target="/ppt/slides/slide4.xml" Id="R8eae8ca0dc5b40f2" /><Relationship Type="http://schemas.openxmlformats.org/officeDocument/2006/relationships/slide" Target="/ppt/slides/slide5.xml" Id="Rbfa2860ab5c2490f" /><Relationship Type="http://schemas.openxmlformats.org/officeDocument/2006/relationships/slide" Target="/ppt/slides/slide6.xml" Id="R77a2ff7098614840" /><Relationship Type="http://schemas.openxmlformats.org/officeDocument/2006/relationships/slide" Target="/ppt/slides/slide7.xml" Id="R3ff825088af94077" /><Relationship Type="http://schemas.openxmlformats.org/officeDocument/2006/relationships/slide" Target="/ppt/slides/slide8.xml" Id="R0e6c2c1b670a44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4cc571b1d841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203da9d9694829" /><Relationship Type="http://schemas.openxmlformats.org/officeDocument/2006/relationships/notesMaster" Target="/ppt/notesMasters/notesMaster1.xml" Id="Recb7cf8d129b4e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4bff971a9c41e3" /><Relationship Type="http://schemas.openxmlformats.org/officeDocument/2006/relationships/notesMaster" Target="/ppt/notesMasters/notesMaster1.xml" Id="Ref64bc75128e45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ea2d3dad5142d9" /><Relationship Type="http://schemas.openxmlformats.org/officeDocument/2006/relationships/notesMaster" Target="/ppt/notesMasters/notesMaster1.xml" Id="Rb89c9d8e8e6d4f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15718384334d87" /><Relationship Type="http://schemas.openxmlformats.org/officeDocument/2006/relationships/notesMaster" Target="/ppt/notesMasters/notesMaster1.xml" Id="Rbcffe4de43b141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5fdba89858416e" /><Relationship Type="http://schemas.openxmlformats.org/officeDocument/2006/relationships/notesMaster" Target="/ppt/notesMasters/notesMaster1.xml" Id="R6a3714c5582f49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d050c79b604743" /><Relationship Type="http://schemas.openxmlformats.org/officeDocument/2006/relationships/notesMaster" Target="/ppt/notesMasters/notesMaster1.xml" Id="R75866c7d53bf45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90951711dc4a07" /><Relationship Type="http://schemas.openxmlformats.org/officeDocument/2006/relationships/notesMaster" Target="/ppt/notesMasters/notesMaster1.xml" Id="R5aa8e40cece54c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7c703f0bab444e" /><Relationship Type="http://schemas.openxmlformats.org/officeDocument/2006/relationships/notesMaster" Target="/ppt/notesMasters/notesMaster1.xml" Id="R56ccbae4a27446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df39cddef49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57e2a4f5a14889" /><Relationship Type="http://schemas.openxmlformats.org/officeDocument/2006/relationships/slideLayout" Target="/ppt/slideLayouts/slideLayout1.xml" Id="R93fd041c17f842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fd041c17f842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8b771af714b76" /><Relationship Type="http://schemas.openxmlformats.org/officeDocument/2006/relationships/notesSlide" Target="/ppt/notesSlides/notesSlide1.xml" Id="R7cd2ef8acf1241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f1815be524c86" /><Relationship Type="http://schemas.openxmlformats.org/officeDocument/2006/relationships/notesSlide" Target="/ppt/notesSlides/notesSlide2.xml" Id="Rdd307891a7f940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1521fa5b249b6" /><Relationship Type="http://schemas.openxmlformats.org/officeDocument/2006/relationships/image" Target="/ppt/media/image.png" Id="R47125e6e39af4334" /><Relationship Type="http://schemas.openxmlformats.org/officeDocument/2006/relationships/image" Target="/ppt/media/image2.png" Id="R0385f638cdd04649" /><Relationship Type="http://schemas.openxmlformats.org/officeDocument/2006/relationships/notesSlide" Target="/ppt/notesSlides/notesSlide3.xml" Id="R2b48ed57bdfc41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4d18d84774a94" /><Relationship Type="http://schemas.openxmlformats.org/officeDocument/2006/relationships/image" Target="/ppt/media/image3.png" Id="R2be71dcdfe5a4c73" /><Relationship Type="http://schemas.openxmlformats.org/officeDocument/2006/relationships/notesSlide" Target="/ppt/notesSlides/notesSlide4.xml" Id="R855f1aaa882e47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54c34ea214133" /><Relationship Type="http://schemas.openxmlformats.org/officeDocument/2006/relationships/image" Target="/ppt/media/image4.png" Id="R2707c2a9efc540bb" /><Relationship Type="http://schemas.openxmlformats.org/officeDocument/2006/relationships/notesSlide" Target="/ppt/notesSlides/notesSlide5.xml" Id="Rd5e701135d9640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ef2c4308e4589" /><Relationship Type="http://schemas.openxmlformats.org/officeDocument/2006/relationships/image" Target="/ppt/media/image5.png" Id="R5e2936684a2f4386" /><Relationship Type="http://schemas.openxmlformats.org/officeDocument/2006/relationships/image" Target="/ppt/media/image6.png" Id="R0703cfbf2ece4f28" /><Relationship Type="http://schemas.openxmlformats.org/officeDocument/2006/relationships/notesSlide" Target="/ppt/notesSlides/notesSlide6.xml" Id="Rb8a57e0f5b9543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0d69a9d0f4202" /><Relationship Type="http://schemas.openxmlformats.org/officeDocument/2006/relationships/notesSlide" Target="/ppt/notesSlides/notesSlide7.xml" Id="Re68439b68bc045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b15d1769f43ea" /><Relationship Type="http://schemas.openxmlformats.org/officeDocument/2006/relationships/hyperlink" Target="https://github.com/survivejs/kirjolab-build-week-entry/" TargetMode="External" Id="Rb05af696cf5b48fa" /><Relationship Type="http://schemas.openxmlformats.org/officeDocument/2006/relationships/hyperlink" Target="https://github.com/bebraw/kirjolab/blob/main/docs/build-week-2026-judge-guide.md" TargetMode="External" Id="Rb56ddb1017b34980" /><Relationship Type="http://schemas.openxmlformats.org/officeDocument/2006/relationships/notesSlide" Target="/ppt/notesSlides/notesSlide8.xml" Id="R308000afd5f44d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1">
            <a:extLst xmlns:a="http://schemas.openxmlformats.org/drawingml/2006/main">
              <a:ext uri="{FF2B5EF4-FFF2-40B4-BE49-F238E27FC236}">
                <a16:creationId xmlns:a16="http://schemas.microsoft.com/office/drawing/2014/main" id="{04181CB9-1E10-454F-AE4F-24342D40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">
            <a:extLst xmlns:a="http://schemas.openxmlformats.org/drawingml/2006/main">
              <a:ext uri="{FF2B5EF4-FFF2-40B4-BE49-F238E27FC236}">
                <a16:creationId xmlns:a16="http://schemas.microsoft.com/office/drawing/2014/main" id="{530D5EA2-1B65-47E4-897B-8D12FE26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OPENAI BUILD WEEK 2026 · WORK &amp; PRODUCTIVITY</a:t>
            </a:r>
          </a:p>
        </p:txBody>
      </p:sp>
      <p:sp>
        <p:nvSpPr>
          <p:cNvPr id="3" name="folio-1">
            <a:extLst xmlns:a="http://schemas.openxmlformats.org/drawingml/2006/main">
              <a:ext uri="{FF2B5EF4-FFF2-40B4-BE49-F238E27FC236}">
                <a16:creationId xmlns:a16="http://schemas.microsoft.com/office/drawing/2014/main" id="{DB7E8FF4-7E8E-466E-B1C4-A7930AA5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01 / 08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FB7474-ADFA-4156-8D1F-A3A048B2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666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7200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7200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Kirjolab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A37961D-C300-45F6-9409-973316DA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 i="0">
                <a:solidFill>
                  <a:srgbClr val="4E5049"/>
                </a:solidFill>
                <a:latin typeface="Inter"/>
                <a:ea typeface="Inter"/>
                <a:cs typeface="Inter"/>
              </a:defRPr>
            </a:pPr>
            <a:r>
              <a:rPr sz="2100" b="0" i="0">
                <a:solidFill>
                  <a:srgbClr val="4E5049"/>
                </a:solidFill>
                <a:latin typeface="Inter"/>
                <a:ea typeface="Inter"/>
                <a:cs typeface="Inter"/>
              </a:rPr>
              <a:t>An integrated workspace where scholarly evidence becomes traceable prose.</a:t>
            </a:r>
          </a:p>
        </p:txBody>
      </p:sp>
      <p:sp>
        <p:nvSpPr>
          <p:cNvPr id="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04EC1FE-75E9-4423-9703-755F4743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009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3B839738-0FB6-4606-976C-B667C644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INSPECT THE TRAIL  ·  KEEP THE SOURCE  ·  DECIDE WHAT CHANGES</a:t>
            </a:r>
          </a:p>
        </p:txBody>
      </p:sp>
    </p:spTree>
    <p:extLst>
      <p:ext uri="{BB962C8B-B14F-4D97-AF65-F5344CB8AC3E}">
        <p14:creationId xmlns:p14="http://schemas.microsoft.com/office/powerpoint/2010/main" val="719320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2">
            <a:extLst xmlns:a="http://schemas.openxmlformats.org/drawingml/2006/main">
              <a:ext uri="{FF2B5EF4-FFF2-40B4-BE49-F238E27FC236}">
                <a16:creationId xmlns:a16="http://schemas.microsoft.com/office/drawing/2014/main" id="{0B76D0E8-666C-47A7-A821-7B279960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0E7DD014-075E-442A-BFA3-D56A704D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THE GAP</a:t>
            </a:r>
          </a:p>
        </p:txBody>
      </p:sp>
      <p:sp>
        <p:nvSpPr>
          <p:cNvPr id="3" name="folio-2">
            <a:extLst xmlns:a="http://schemas.openxmlformats.org/drawingml/2006/main">
              <a:ext uri="{FF2B5EF4-FFF2-40B4-BE49-F238E27FC236}">
                <a16:creationId xmlns:a16="http://schemas.microsoft.com/office/drawing/2014/main" id="{9E5B8E4B-8869-42C5-AAEB-56382A48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02 / 08</a:t>
            </a:r>
          </a:p>
        </p:txBody>
      </p:sp>
      <p:sp>
        <p:nvSpPr>
          <p:cNvPr id="4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9692AFFE-CB53-466F-8319-2F00D095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9334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4200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A citation survives.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200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4200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Its evidence trail often does not.</a:t>
            </a:r>
          </a:p>
        </p:txBody>
      </p:sp>
      <p:sp>
        <p:nvSpPr>
          <p:cNvPr id="5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9D47C790-156A-40E2-B462-3A0C5238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650" b="0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Research work crosses tools. Each handoff makes the source passage, reasoning, model context, and human decision harder to reconstruct.</a:t>
            </a:r>
          </a:p>
        </p:txBody>
      </p:sp>
      <p:sp>
        <p:nvSpPr>
          <p:cNvPr id="6" name="problem-path">
            <a:extLst xmlns:a="http://schemas.openxmlformats.org/drawingml/2006/main">
              <a:ext uri="{FF2B5EF4-FFF2-40B4-BE49-F238E27FC236}">
                <a16:creationId xmlns:a16="http://schemas.microsoft.com/office/drawing/2014/main" id="{992A0687-FBDD-4363-BF90-26BDFF4D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040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2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node-01">
            <a:extLst xmlns:a="http://schemas.openxmlformats.org/drawingml/2006/main">
              <a:ext uri="{FF2B5EF4-FFF2-40B4-BE49-F238E27FC236}">
                <a16:creationId xmlns:a16="http://schemas.microsoft.com/office/drawing/2014/main" id="{FA8E104A-1435-4DEC-8BA1-F32614B2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14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32141D63-6348-45C9-AAA8-4F831772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B65331"/>
                </a:solidFill>
                <a:latin typeface="Fira Code"/>
                <a:ea typeface="Fira Code"/>
                <a:cs typeface="Fira Code"/>
              </a:defRPr>
            </a:pPr>
            <a:r>
              <a:rPr sz="1350" b="1" i="0">
                <a:solidFill>
                  <a:srgbClr val="B65331"/>
                </a:solidFill>
                <a:latin typeface="Fira Code"/>
                <a:ea typeface="Fira Code"/>
                <a:cs typeface="Fira Code"/>
              </a:rPr>
              <a:t>01</a:t>
            </a:r>
          </a:p>
        </p:txBody>
      </p:sp>
      <p:sp>
        <p:nvSpPr>
          <p:cNvPr id="9" name="problem-label-01">
            <a:extLst xmlns:a="http://schemas.openxmlformats.org/drawingml/2006/main">
              <a:ext uri="{FF2B5EF4-FFF2-40B4-BE49-F238E27FC236}">
                <a16:creationId xmlns:a16="http://schemas.microsoft.com/office/drawing/2014/main" id="{0E27DE3D-1949-454B-B278-6887CB32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SOURCE</a:t>
            </a:r>
          </a:p>
        </p:txBody>
      </p:sp>
      <p:sp>
        <p:nvSpPr>
          <p:cNvPr id="10" name="problem-copy-01">
            <a:extLst xmlns:a="http://schemas.openxmlformats.org/drawingml/2006/main">
              <a:ext uri="{FF2B5EF4-FFF2-40B4-BE49-F238E27FC236}">
                <a16:creationId xmlns:a16="http://schemas.microsoft.com/office/drawing/2014/main" id="{EA135FD3-7B68-4741-B61C-96620231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A paper enters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the library.</a:t>
            </a:r>
          </a:p>
        </p:txBody>
      </p:sp>
      <p:sp>
        <p:nvSpPr>
          <p:cNvPr id="11" name="problem-node-02">
            <a:extLst xmlns:a="http://schemas.openxmlformats.org/drawingml/2006/main">
              <a:ext uri="{FF2B5EF4-FFF2-40B4-BE49-F238E27FC236}">
                <a16:creationId xmlns:a16="http://schemas.microsoft.com/office/drawing/2014/main" id="{69FDF147-6404-437F-BC6B-EC0F2A3D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14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C59CE586-10DF-414F-BDA3-41E76A49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72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B65331"/>
                </a:solidFill>
                <a:latin typeface="Fira Code"/>
                <a:ea typeface="Fira Code"/>
                <a:cs typeface="Fira Code"/>
              </a:defRPr>
            </a:pPr>
            <a:r>
              <a:rPr sz="1350" b="1" i="0">
                <a:solidFill>
                  <a:srgbClr val="B65331"/>
                </a:solidFill>
                <a:latin typeface="Fira Code"/>
                <a:ea typeface="Fira Code"/>
                <a:cs typeface="Fira Code"/>
              </a:rPr>
              <a:t>02</a:t>
            </a:r>
          </a:p>
        </p:txBody>
      </p:sp>
      <p:sp>
        <p:nvSpPr>
          <p:cNvPr id="13" name="problem-label-02">
            <a:extLst xmlns:a="http://schemas.openxmlformats.org/drawingml/2006/main">
              <a:ext uri="{FF2B5EF4-FFF2-40B4-BE49-F238E27FC236}">
                <a16:creationId xmlns:a16="http://schemas.microsoft.com/office/drawing/2014/main" id="{6ADD58FA-78A8-40D9-BEC2-0F567AEC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72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EVIDENCE</a:t>
            </a:r>
          </a:p>
        </p:txBody>
      </p:sp>
      <p:sp>
        <p:nvSpPr>
          <p:cNvPr id="14" name="problem-copy-02">
            <a:extLst xmlns:a="http://schemas.openxmlformats.org/drawingml/2006/main">
              <a:ext uri="{FF2B5EF4-FFF2-40B4-BE49-F238E27FC236}">
                <a16:creationId xmlns:a16="http://schemas.microsoft.com/office/drawing/2014/main" id="{C442D0EF-92BA-4F49-922F-BBBD295A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292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The useful passage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stays in a PDF.</a:t>
            </a:r>
          </a:p>
        </p:txBody>
      </p:sp>
      <p:sp>
        <p:nvSpPr>
          <p:cNvPr id="15" name="problem-node-03">
            <a:extLst xmlns:a="http://schemas.openxmlformats.org/drawingml/2006/main">
              <a:ext uri="{FF2B5EF4-FFF2-40B4-BE49-F238E27FC236}">
                <a16:creationId xmlns:a16="http://schemas.microsoft.com/office/drawing/2014/main" id="{98B1A788-EBBC-4D13-A89D-649C865E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114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3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957CC727-DDC8-4B82-9294-82733D0E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72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B65331"/>
                </a:solidFill>
                <a:latin typeface="Fira Code"/>
                <a:ea typeface="Fira Code"/>
                <a:cs typeface="Fira Code"/>
              </a:defRPr>
            </a:pPr>
            <a:r>
              <a:rPr sz="1350" b="1" i="0">
                <a:solidFill>
                  <a:srgbClr val="B65331"/>
                </a:solidFill>
                <a:latin typeface="Fira Code"/>
                <a:ea typeface="Fira Code"/>
                <a:cs typeface="Fira Code"/>
              </a:rPr>
              <a:t>03</a:t>
            </a:r>
          </a:p>
        </p:txBody>
      </p:sp>
      <p:sp>
        <p:nvSpPr>
          <p:cNvPr id="17" name="problem-label-03">
            <a:extLst xmlns:a="http://schemas.openxmlformats.org/drawingml/2006/main">
              <a:ext uri="{FF2B5EF4-FFF2-40B4-BE49-F238E27FC236}">
                <a16:creationId xmlns:a16="http://schemas.microsoft.com/office/drawing/2014/main" id="{AFB5AEE7-4D11-4FC9-85E9-DD825578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72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REASONING</a:t>
            </a:r>
          </a:p>
        </p:txBody>
      </p:sp>
      <p:sp>
        <p:nvSpPr>
          <p:cNvPr id="18" name="problem-copy-03">
            <a:extLst xmlns:a="http://schemas.openxmlformats.org/drawingml/2006/main">
              <a:ext uri="{FF2B5EF4-FFF2-40B4-BE49-F238E27FC236}">
                <a16:creationId xmlns:a16="http://schemas.microsoft.com/office/drawing/2014/main" id="{842165F1-3ED6-48C5-B704-35DA3890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292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Notes and model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context drift away.</a:t>
            </a:r>
          </a:p>
        </p:txBody>
      </p:sp>
      <p:sp>
        <p:nvSpPr>
          <p:cNvPr id="19" name="problem-node-04">
            <a:extLst xmlns:a="http://schemas.openxmlformats.org/drawingml/2006/main">
              <a:ext uri="{FF2B5EF4-FFF2-40B4-BE49-F238E27FC236}">
                <a16:creationId xmlns:a16="http://schemas.microsoft.com/office/drawing/2014/main" id="{D18ECB12-2F2E-47A8-A9AE-16D13DD0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14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blem-number-04">
            <a:extLst xmlns:a="http://schemas.openxmlformats.org/drawingml/2006/main">
              <a:ext uri="{FF2B5EF4-FFF2-40B4-BE49-F238E27FC236}">
                <a16:creationId xmlns:a16="http://schemas.microsoft.com/office/drawing/2014/main" id="{70651DBE-3EEC-47A3-A673-C107FDDE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72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174F3D"/>
                </a:solidFill>
                <a:latin typeface="Fira Code"/>
                <a:ea typeface="Fira Code"/>
                <a:cs typeface="Fira Code"/>
              </a:defRPr>
            </a:pPr>
            <a:r>
              <a:rPr sz="1350" b="1" i="0">
                <a:solidFill>
                  <a:srgbClr val="174F3D"/>
                </a:solidFill>
                <a:latin typeface="Fira Code"/>
                <a:ea typeface="Fira Code"/>
                <a:cs typeface="Fira Code"/>
              </a:rPr>
              <a:t>04</a:t>
            </a:r>
          </a:p>
        </p:txBody>
      </p:sp>
      <p:sp>
        <p:nvSpPr>
          <p:cNvPr id="21" name="problem-label-04">
            <a:extLst xmlns:a="http://schemas.openxmlformats.org/drawingml/2006/main">
              <a:ext uri="{FF2B5EF4-FFF2-40B4-BE49-F238E27FC236}">
                <a16:creationId xmlns:a16="http://schemas.microsoft.com/office/drawing/2014/main" id="{17BFD233-F054-466B-9552-AA4DF2C7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72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MANUSCRIPT</a:t>
            </a:r>
          </a:p>
        </p:txBody>
      </p:sp>
      <p:sp>
        <p:nvSpPr>
          <p:cNvPr id="22" name="problem-copy-04">
            <a:extLst xmlns:a="http://schemas.openxmlformats.org/drawingml/2006/main">
              <a:ext uri="{FF2B5EF4-FFF2-40B4-BE49-F238E27FC236}">
                <a16:creationId xmlns:a16="http://schemas.microsoft.com/office/drawing/2014/main" id="{C88FC065-5FD5-47C6-8740-513EADC4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2920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Only the citation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reaches the prose.</a:t>
            </a:r>
          </a:p>
        </p:txBody>
      </p:sp>
    </p:spTree>
    <p:extLst>
      <p:ext uri="{BB962C8B-B14F-4D97-AF65-F5344CB8AC3E}">
        <p14:creationId xmlns:p14="http://schemas.microsoft.com/office/powerpoint/2010/main" val="1025718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3">
            <a:extLst xmlns:a="http://schemas.openxmlformats.org/drawingml/2006/main">
              <a:ext uri="{FF2B5EF4-FFF2-40B4-BE49-F238E27FC236}">
                <a16:creationId xmlns:a16="http://schemas.microsoft.com/office/drawing/2014/main" id="{F592B2DA-32C5-40BA-A9C9-69819F69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CEC06E75-A115-45B5-8712-8506B588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ONE SCHOLARLY WORKSPACE</a:t>
            </a:r>
          </a:p>
        </p:txBody>
      </p:sp>
      <p:sp>
        <p:nvSpPr>
          <p:cNvPr id="3" name="folio-3">
            <a:extLst xmlns:a="http://schemas.openxmlformats.org/drawingml/2006/main">
              <a:ext uri="{FF2B5EF4-FFF2-40B4-BE49-F238E27FC236}">
                <a16:creationId xmlns:a16="http://schemas.microsoft.com/office/drawing/2014/main" id="{637A5ABA-E3A2-42F4-8316-39339169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03 / 08</a:t>
            </a:r>
          </a:p>
        </p:txBody>
      </p:sp>
      <p:sp>
        <p:nvSpPr>
          <p:cNvPr id="4" name="workspace-title">
            <a:extLst xmlns:a="http://schemas.openxmlformats.org/drawingml/2006/main">
              <a:ext uri="{FF2B5EF4-FFF2-40B4-BE49-F238E27FC236}">
                <a16:creationId xmlns:a16="http://schemas.microsoft.com/office/drawing/2014/main" id="{67D5AE4F-547C-470B-BE3B-6BC9EC3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3675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A highlight becomes a citation.</a:t>
            </a:r>
          </a:p>
        </p:txBody>
      </p:sp>
      <p:sp>
        <p:nvSpPr>
          <p:cNvPr id="5" name="workspace-lead">
            <a:extLst xmlns:a="http://schemas.openxmlformats.org/drawingml/2006/main">
              <a:ext uri="{FF2B5EF4-FFF2-40B4-BE49-F238E27FC236}">
                <a16:creationId xmlns:a16="http://schemas.microsoft.com/office/drawing/2014/main" id="{14E1FFD1-30B3-43FB-B2D1-73B5997B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Select a PDF passage, save the evidence, then insert its source and page at the remembered manuscript caret.</a:t>
            </a:r>
          </a:p>
        </p:txBody>
      </p:sp>
      <p:sp>
        <p:nvSpPr>
          <p:cNvPr id="6" name="authoring-screen-shadow">
            <a:extLst xmlns:a="http://schemas.openxmlformats.org/drawingml/2006/main">
              <a:ext uri="{FF2B5EF4-FFF2-40B4-BE49-F238E27FC236}">
                <a16:creationId xmlns:a16="http://schemas.microsoft.com/office/drawing/2014/main" id="{8A96D414-ED44-4F3D-ABF5-298E8B4A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1435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uthoring-screen-frame">
            <a:extLst xmlns:a="http://schemas.openxmlformats.org/drawingml/2006/main">
              <a:ext uri="{FF2B5EF4-FFF2-40B4-BE49-F238E27FC236}">
                <a16:creationId xmlns:a16="http://schemas.microsoft.com/office/drawing/2014/main" id="{1ABF995D-1233-45CC-BBE7-47231C48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C8C2B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25e6e39af4334"/>
          <a:srcRect xmlns:a="http://schemas.openxmlformats.org/drawingml/2006/main" l="0" t="6063" r="0" b="60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" y="2286000"/>
            <a:ext cx="5105400" cy="2990850"/>
          </a:xfrm>
          <a:prstGeom xmlns:a="http://schemas.openxmlformats.org/drawingml/2006/main" prst="roundRect">
            <a:avLst/>
          </a:prstGeom>
        </p:spPr>
      </p:pic>
      <p:sp>
        <p:nvSpPr>
          <p:cNvPr id="9" name="annotation-screen-shadow">
            <a:extLst xmlns:a="http://schemas.openxmlformats.org/drawingml/2006/main">
              <a:ext uri="{FF2B5EF4-FFF2-40B4-BE49-F238E27FC236}">
                <a16:creationId xmlns:a16="http://schemas.microsoft.com/office/drawing/2014/main" id="{9DBFAD3B-5186-4E82-B373-47665D86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51435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nnotation-screen-frame">
            <a:extLst xmlns:a="http://schemas.openxmlformats.org/drawingml/2006/main">
              <a:ext uri="{FF2B5EF4-FFF2-40B4-BE49-F238E27FC236}">
                <a16:creationId xmlns:a16="http://schemas.microsoft.com/office/drawing/2014/main" id="{64C9EBCD-F235-4856-B686-16410152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51435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C8C2B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5f638cdd04649"/>
          <a:srcRect xmlns:a="http://schemas.openxmlformats.org/drawingml/2006/main" l="0" t="6063" r="0" b="60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43650" y="2286000"/>
            <a:ext cx="5105400" cy="2990850"/>
          </a:xfrm>
          <a:prstGeom xmlns:a="http://schemas.openxmlformats.org/drawingml/2006/main" prst="roundRect">
            <a:avLst/>
          </a:prstGeom>
        </p:spPr>
      </p:pic>
      <p:sp>
        <p:nvSpPr>
          <p:cNvPr id="12" name="authoring-caption">
            <a:extLst xmlns:a="http://schemas.openxmlformats.org/drawingml/2006/main">
              <a:ext uri="{FF2B5EF4-FFF2-40B4-BE49-F238E27FC236}">
                <a16:creationId xmlns:a16="http://schemas.microsoft.com/office/drawing/2014/main" id="{1A95B3A9-3AC3-4C5D-9880-96EF8D57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174F3D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174F3D"/>
                </a:solidFill>
                <a:latin typeface="Inter"/>
                <a:ea typeface="Inter"/>
                <a:cs typeface="Inter"/>
              </a:rPr>
              <a:t>WRITE  ·  CANONICAL MARKDOWN + LIVE PREVIEW</a:t>
            </a:r>
          </a:p>
        </p:txBody>
      </p:sp>
      <p:sp>
        <p:nvSpPr>
          <p:cNvPr id="13" name="annotation-caption">
            <a:extLst xmlns:a="http://schemas.openxmlformats.org/drawingml/2006/main">
              <a:ext uri="{FF2B5EF4-FFF2-40B4-BE49-F238E27FC236}">
                <a16:creationId xmlns:a16="http://schemas.microsoft.com/office/drawing/2014/main" id="{91F00610-C2D2-485F-B50D-C79CF84E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673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174F3D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174F3D"/>
                </a:solidFill>
                <a:latin typeface="Inter"/>
                <a:ea typeface="Inter"/>
                <a:cs typeface="Inter"/>
              </a:rPr>
              <a:t>EVIDENCE  ·  HIGHLIGHT + PAGE-AWARE CITATION</a:t>
            </a:r>
          </a:p>
        </p:txBody>
      </p:sp>
    </p:spTree>
    <p:extLst>
      <p:ext uri="{BB962C8B-B14F-4D97-AF65-F5344CB8AC3E}">
        <p14:creationId xmlns:p14="http://schemas.microsoft.com/office/powerpoint/2010/main" val="1154661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4">
            <a:extLst xmlns:a="http://schemas.openxmlformats.org/drawingml/2006/main">
              <a:ext uri="{FF2B5EF4-FFF2-40B4-BE49-F238E27FC236}">
                <a16:creationId xmlns:a16="http://schemas.microsoft.com/office/drawing/2014/main" id="{54E6B520-42DC-4D8D-B307-26D920A9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382E7A83-AE61-42FE-9B8D-DB6F73F0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EVIDENCE BECOMES PROSE</a:t>
            </a:r>
          </a:p>
        </p:txBody>
      </p:sp>
      <p:sp>
        <p:nvSpPr>
          <p:cNvPr id="3" name="folio-4">
            <a:extLst xmlns:a="http://schemas.openxmlformats.org/drawingml/2006/main">
              <a:ext uri="{FF2B5EF4-FFF2-40B4-BE49-F238E27FC236}">
                <a16:creationId xmlns:a16="http://schemas.microsoft.com/office/drawing/2014/main" id="{C1A06C53-1D6A-4A9C-BAF2-5CD7296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04 / 08</a:t>
            </a:r>
          </a:p>
        </p:txBody>
      </p:sp>
      <p:sp>
        <p:nvSpPr>
          <p:cNvPr id="4" name="map-title">
            <a:extLst xmlns:a="http://schemas.openxmlformats.org/drawingml/2006/main">
              <a:ext uri="{FF2B5EF4-FFF2-40B4-BE49-F238E27FC236}">
                <a16:creationId xmlns:a16="http://schemas.microsoft.com/office/drawing/2014/main" id="{52755E5D-531C-42F8-A40A-71A742BB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The evidence trail stays visible.</a:t>
            </a:r>
          </a:p>
        </p:txBody>
      </p:sp>
      <p:sp>
        <p:nvSpPr>
          <p:cNvPr id="5" name="map-copy">
            <a:extLst xmlns:a="http://schemas.openxmlformats.org/drawingml/2006/main">
              <a:ext uri="{FF2B5EF4-FFF2-40B4-BE49-F238E27FC236}">
                <a16:creationId xmlns:a16="http://schemas.microsoft.com/office/drawing/2014/main" id="{C55572CE-AE59-4BF5-8B93-49378D8A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174F3D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174F3D"/>
                </a:solidFill>
                <a:latin typeface="Inter"/>
                <a:ea typeface="Inter"/>
                <a:cs typeface="Inter"/>
              </a:rPr>
              <a:t>Source material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174F3D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174F3D"/>
                </a:solidFill>
                <a:latin typeface="Inter"/>
                <a:ea typeface="Inter"/>
                <a:cs typeface="Inter"/>
              </a:rPr>
              <a:t>Evidence and reasoning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174F3D"/>
                </a:solidFill>
                <a:latin typeface="Inter"/>
                <a:ea typeface="Inter"/>
                <a:cs typeface="Inter"/>
              </a:defRPr>
            </a:pPr>
            <a:r>
              <a:rPr sz="1650" b="1" i="0">
                <a:solidFill>
                  <a:srgbClr val="174F3D"/>
                </a:solidFill>
                <a:latin typeface="Inter"/>
                <a:ea typeface="Inter"/>
                <a:cs typeface="Inter"/>
              </a:rPr>
              <a:t>Manuscript</a:t>
            </a:r>
          </a:p>
        </p:txBody>
      </p:sp>
      <p:sp>
        <p:nvSpPr>
          <p:cNvPr id="6" name="map-note">
            <a:extLst xmlns:a="http://schemas.openxmlformats.org/drawingml/2006/main">
              <a:ext uri="{FF2B5EF4-FFF2-40B4-BE49-F238E27FC236}">
                <a16:creationId xmlns:a16="http://schemas.microsoft.com/office/drawing/2014/main" id="{879BD4B1-2704-4DEE-B5DD-EF50281B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Typed links keep publications, PDF annotations, claims, model candidates, sections, and documents inspectable as one project structure.</a:t>
            </a:r>
          </a:p>
        </p:txBody>
      </p:sp>
      <p:sp>
        <p:nvSpPr>
          <p:cNvPr id="7" name="evidence-map-screen-shadow">
            <a:extLst xmlns:a="http://schemas.openxmlformats.org/drawingml/2006/main">
              <a:ext uri="{FF2B5EF4-FFF2-40B4-BE49-F238E27FC236}">
                <a16:creationId xmlns:a16="http://schemas.microsoft.com/office/drawing/2014/main" id="{97B31C62-F506-4720-A528-3247A350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104900"/>
            <a:ext cx="664845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map-screen-frame">
            <a:extLst xmlns:a="http://schemas.openxmlformats.org/drawingml/2006/main">
              <a:ext uri="{FF2B5EF4-FFF2-40B4-BE49-F238E27FC236}">
                <a16:creationId xmlns:a16="http://schemas.microsoft.com/office/drawing/2014/main" id="{694E75F0-3A12-417C-BE8F-F58B1A1C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009650"/>
            <a:ext cx="664845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C8C2B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71dcdfe5a4c73"/>
          <a:srcRect xmlns:a="http://schemas.openxmlformats.org/drawingml/2006/main" l="4282" t="0" r="42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838700" y="1028700"/>
            <a:ext cx="6610350" cy="4819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35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4F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5">
            <a:extLst xmlns:a="http://schemas.openxmlformats.org/drawingml/2006/main">
              <a:ext uri="{FF2B5EF4-FFF2-40B4-BE49-F238E27FC236}">
                <a16:creationId xmlns:a16="http://schemas.microsoft.com/office/drawing/2014/main" id="{1AAF4A45-7926-42B5-8BF4-FA57ED60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081E64D4-445C-4D37-B2B7-7D98EC31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A8C0B5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A8C0B5"/>
                </a:solidFill>
                <a:latin typeface="Inter"/>
                <a:ea typeface="Inter"/>
                <a:cs typeface="Inter"/>
              </a:rPr>
              <a:t>THE MODEL BOUNDARY</a:t>
            </a:r>
          </a:p>
        </p:txBody>
      </p:sp>
      <p:sp>
        <p:nvSpPr>
          <p:cNvPr id="3" name="folio-5">
            <a:extLst xmlns:a="http://schemas.openxmlformats.org/drawingml/2006/main">
              <a:ext uri="{FF2B5EF4-FFF2-40B4-BE49-F238E27FC236}">
                <a16:creationId xmlns:a16="http://schemas.microsoft.com/office/drawing/2014/main" id="{339EFBB9-0F84-4BC0-ABEE-C8268742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8C0B5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A8C0B5"/>
                </a:solidFill>
                <a:latin typeface="Inter"/>
                <a:ea typeface="Inter"/>
                <a:cs typeface="Inter"/>
              </a:rPr>
              <a:t>05 / 08</a:t>
            </a:r>
          </a:p>
        </p:txBody>
      </p:sp>
      <p:sp>
        <p:nvSpPr>
          <p:cNvPr id="4" name="reviewable-ai-screen-shadow">
            <a:extLst xmlns:a="http://schemas.openxmlformats.org/drawingml/2006/main">
              <a:ext uri="{FF2B5EF4-FFF2-40B4-BE49-F238E27FC236}">
                <a16:creationId xmlns:a16="http://schemas.microsoft.com/office/drawing/2014/main" id="{B7B81D59-4A1D-4DF6-9F39-638E8280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6515100" cy="46482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viewable-ai-screen-frame">
            <a:extLst xmlns:a="http://schemas.openxmlformats.org/drawingml/2006/main">
              <a:ext uri="{FF2B5EF4-FFF2-40B4-BE49-F238E27FC236}">
                <a16:creationId xmlns:a16="http://schemas.microsoft.com/office/drawing/2014/main" id="{AA7C2F6C-1A63-49D5-B0DE-47DCA643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6515100" cy="46482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718B8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7c2a9efc540bb"/>
          <a:srcRect xmlns:a="http://schemas.openxmlformats.org/drawingml/2006/main" l="3168" t="0" r="31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" y="1123950"/>
            <a:ext cx="6477000" cy="4610100"/>
          </a:xfrm>
          <a:prstGeom xmlns:a="http://schemas.openxmlformats.org/drawingml/2006/main" prst="roundRect">
            <a:avLst/>
          </a:prstGeom>
        </p:spPr>
      </p:pic>
      <p:sp>
        <p:nvSpPr>
          <p:cNvPr id="7" name="ai-eyebrow">
            <a:extLst xmlns:a="http://schemas.openxmlformats.org/drawingml/2006/main">
              <a:ext uri="{FF2B5EF4-FFF2-40B4-BE49-F238E27FC236}">
                <a16:creationId xmlns:a16="http://schemas.microsoft.com/office/drawing/2014/main" id="{FCBCEB53-F9C9-4C90-BCB7-3FD087F0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219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E59A76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E59A76"/>
                </a:solidFill>
                <a:latin typeface="Inter"/>
                <a:ea typeface="Inter"/>
                <a:cs typeface="Inter"/>
              </a:rPr>
              <a:t>AI PROPOSES</a:t>
            </a:r>
          </a:p>
        </p:txBody>
      </p:sp>
      <p:sp>
        <p:nvSpPr>
          <p:cNvPr id="8" name="ai-title">
            <a:extLst xmlns:a="http://schemas.openxmlformats.org/drawingml/2006/main">
              <a:ext uri="{FF2B5EF4-FFF2-40B4-BE49-F238E27FC236}">
                <a16:creationId xmlns:a16="http://schemas.microsoft.com/office/drawing/2014/main" id="{17D81CD1-BF9D-4926-B743-C90C3BBA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5735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4200" b="1" i="0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The researcher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4200" b="1" i="0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decides.</a:t>
            </a:r>
          </a:p>
        </p:txBody>
      </p:sp>
      <p:sp>
        <p:nvSpPr>
          <p:cNvPr id="9" name="ai-list">
            <a:extLst xmlns:a="http://schemas.openxmlformats.org/drawingml/2006/main">
              <a:ext uri="{FF2B5EF4-FFF2-40B4-BE49-F238E27FC236}">
                <a16:creationId xmlns:a16="http://schemas.microsoft.com/office/drawing/2014/main" id="{BEB9A307-A778-46C2-B6F7-40DC7DD3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38550"/>
            <a:ext cx="36766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D6E0DA"/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D6E0DA"/>
                </a:solidFill>
                <a:latin typeface="Inter"/>
                <a:ea typeface="Inter"/>
                <a:cs typeface="Inter"/>
              </a:rPr>
              <a:t>- Explicit target and evidence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D6E0DA"/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D6E0DA"/>
                </a:solidFill>
                <a:latin typeface="Inter"/>
                <a:ea typeface="Inter"/>
                <a:cs typeface="Inter"/>
              </a:rPr>
              <a:t>- Recorded model identity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D6E0DA"/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D6E0DA"/>
                </a:solidFill>
                <a:latin typeface="Inter"/>
                <a:ea typeface="Inter"/>
                <a:cs typeface="Inter"/>
              </a:rPr>
              <a:t>- Reviewable candidate state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D6E0DA"/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D6E0DA"/>
                </a:solidFill>
                <a:latin typeface="Inter"/>
                <a:ea typeface="Inter"/>
                <a:cs typeface="Inter"/>
              </a:rPr>
              <a:t>- Accept, edit, or reject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D6E0DA"/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D6E0DA"/>
                </a:solidFill>
                <a:latin typeface="Inter"/>
                <a:ea typeface="Inter"/>
                <a:cs typeface="Inter"/>
              </a:rPr>
              <a:t>- No silent manuscript mutation</a:t>
            </a:r>
          </a:p>
        </p:txBody>
      </p:sp>
      <p:sp>
        <p:nvSpPr>
          <p:cNvPr id="10" name="ai-note">
            <a:extLst xmlns:a="http://schemas.openxmlformats.org/drawingml/2006/main">
              <a:ext uri="{FF2B5EF4-FFF2-40B4-BE49-F238E27FC236}">
                <a16:creationId xmlns:a16="http://schemas.microsoft.com/office/drawing/2014/main" id="{62C3E9C8-D5F6-4FC3-BC99-535496E1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911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A8C0B5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A8C0B5"/>
                </a:solidFill>
                <a:latin typeface="Inter"/>
                <a:ea typeface="Inter"/>
                <a:cs typeface="Inter"/>
              </a:rPr>
              <a:t>Local-capable. Provider-neutral.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A8C0B5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A8C0B5"/>
                </a:solidFill>
                <a:latin typeface="Inter"/>
                <a:ea typeface="Inter"/>
                <a:cs typeface="Inter"/>
              </a:rPr>
              <a:t>Human-disposed.</a:t>
            </a:r>
          </a:p>
        </p:txBody>
      </p:sp>
    </p:spTree>
    <p:extLst>
      <p:ext uri="{BB962C8B-B14F-4D97-AF65-F5344CB8AC3E}">
        <p14:creationId xmlns:p14="http://schemas.microsoft.com/office/powerpoint/2010/main" val="7681733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7E1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6">
            <a:extLst xmlns:a="http://schemas.openxmlformats.org/drawingml/2006/main">
              <a:ext uri="{FF2B5EF4-FFF2-40B4-BE49-F238E27FC236}">
                <a16:creationId xmlns:a16="http://schemas.microsoft.com/office/drawing/2014/main" id="{89F62B56-D1AC-4C07-9E79-E508C99E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0FFF6D9E-00D1-4BE7-A649-D711A70B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DURABLE BY DESIGN</a:t>
            </a:r>
          </a:p>
        </p:txBody>
      </p:sp>
      <p:sp>
        <p:nvSpPr>
          <p:cNvPr id="3" name="folio-6">
            <a:extLst xmlns:a="http://schemas.openxmlformats.org/drawingml/2006/main">
              <a:ext uri="{FF2B5EF4-FFF2-40B4-BE49-F238E27FC236}">
                <a16:creationId xmlns:a16="http://schemas.microsoft.com/office/drawing/2014/main" id="{C3CC2296-D93F-4246-9E6E-16F58D1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06 / 08</a:t>
            </a:r>
          </a:p>
        </p:txBody>
      </p:sp>
      <p:sp>
        <p:nvSpPr>
          <p:cNvPr id="4" name="durable-title">
            <a:extLst xmlns:a="http://schemas.openxmlformats.org/drawingml/2006/main">
              <a:ext uri="{FF2B5EF4-FFF2-40B4-BE49-F238E27FC236}">
                <a16:creationId xmlns:a16="http://schemas.microsoft.com/office/drawing/2014/main" id="{720ABA1C-27A0-4EB4-B722-93875B6A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3675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The work remains yours.</a:t>
            </a:r>
          </a:p>
        </p:txBody>
      </p:sp>
      <p:sp>
        <p:nvSpPr>
          <p:cNvPr id="5" name="durable-lead">
            <a:extLst xmlns:a="http://schemas.openxmlformats.org/drawingml/2006/main">
              <a:ext uri="{FF2B5EF4-FFF2-40B4-BE49-F238E27FC236}">
                <a16:creationId xmlns:a16="http://schemas.microsoft.com/office/drawing/2014/main" id="{1A40C2F6-57F9-4ADD-BEA5-693AB5BF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Members can open linked PDFs. Public links cannot; raw bibliography stays behind interoperability.</a:t>
            </a:r>
          </a:p>
        </p:txBody>
      </p:sp>
      <p:sp>
        <p:nvSpPr>
          <p:cNvPr id="6" name="shared-editor-screen-shadow">
            <a:extLst xmlns:a="http://schemas.openxmlformats.org/drawingml/2006/main">
              <a:ext uri="{FF2B5EF4-FFF2-40B4-BE49-F238E27FC236}">
                <a16:creationId xmlns:a16="http://schemas.microsoft.com/office/drawing/2014/main" id="{72DCFBF8-DED6-4B2D-A2AF-CB241DA1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1435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red-editor-screen-frame">
            <a:extLst xmlns:a="http://schemas.openxmlformats.org/drawingml/2006/main">
              <a:ext uri="{FF2B5EF4-FFF2-40B4-BE49-F238E27FC236}">
                <a16:creationId xmlns:a16="http://schemas.microsoft.com/office/drawing/2014/main" id="{41591AE3-E470-4EEB-9A54-C1124A62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C8C2B6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936684a2f4386"/>
          <a:srcRect xmlns:a="http://schemas.openxmlformats.org/drawingml/2006/main" l="0" t="6063" r="0" b="60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" y="2286000"/>
            <a:ext cx="5105400" cy="2990850"/>
          </a:xfrm>
          <a:prstGeom xmlns:a="http://schemas.openxmlformats.org/drawingml/2006/main" prst="roundRect">
            <a:avLst/>
          </a:prstGeom>
        </p:spPr>
      </p:pic>
      <p:sp>
        <p:nvSpPr>
          <p:cNvPr id="9" name="portable-export-screen-shadow">
            <a:extLst xmlns:a="http://schemas.openxmlformats.org/drawingml/2006/main">
              <a:ext uri="{FF2B5EF4-FFF2-40B4-BE49-F238E27FC236}">
                <a16:creationId xmlns:a16="http://schemas.microsoft.com/office/drawing/2014/main" id="{21E8DD41-A477-436D-8796-117E29AC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51435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ortable-export-screen-frame">
            <a:extLst xmlns:a="http://schemas.openxmlformats.org/drawingml/2006/main">
              <a:ext uri="{FF2B5EF4-FFF2-40B4-BE49-F238E27FC236}">
                <a16:creationId xmlns:a16="http://schemas.microsoft.com/office/drawing/2014/main" id="{C31E0938-EE9B-40BC-951D-4484A0C5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51435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C8C2B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3cfbf2ece4f28"/>
          <a:srcRect xmlns:a="http://schemas.openxmlformats.org/drawingml/2006/main" l="0" t="6063" r="0" b="60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43650" y="2286000"/>
            <a:ext cx="5105400" cy="2990850"/>
          </a:xfrm>
          <a:prstGeom xmlns:a="http://schemas.openxmlformats.org/drawingml/2006/main" prst="roundRect">
            <a:avLst/>
          </a:prstGeom>
        </p:spPr>
      </p:pic>
      <p:sp>
        <p:nvSpPr>
          <p:cNvPr id="12" name="shared-caption">
            <a:extLst xmlns:a="http://schemas.openxmlformats.org/drawingml/2006/main">
              <a:ext uri="{FF2B5EF4-FFF2-40B4-BE49-F238E27FC236}">
                <a16:creationId xmlns:a16="http://schemas.microsoft.com/office/drawing/2014/main" id="{D07147A9-3AF6-461A-8B79-55D9DEC9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174F3D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174F3D"/>
                </a:solidFill>
                <a:latin typeface="Inter"/>
                <a:ea typeface="Inter"/>
                <a:cs typeface="Inter"/>
              </a:rPr>
              <a:t>SHARE  ·  LINKS WITHOUT PRIVATE PDF ACCESS</a:t>
            </a:r>
          </a:p>
        </p:txBody>
      </p:sp>
      <p:sp>
        <p:nvSpPr>
          <p:cNvPr id="13" name="export-caption">
            <a:extLst xmlns:a="http://schemas.openxmlformats.org/drawingml/2006/main">
              <a:ext uri="{FF2B5EF4-FFF2-40B4-BE49-F238E27FC236}">
                <a16:creationId xmlns:a16="http://schemas.microsoft.com/office/drawing/2014/main" id="{ED76D5CC-D6F5-46EE-83A7-5A8B3B2D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673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174F3D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174F3D"/>
                </a:solidFill>
                <a:latin typeface="Inter"/>
                <a:ea typeface="Inter"/>
                <a:cs typeface="Inter"/>
              </a:rPr>
              <a:t>EXPORT  ·  PRIMARY OUTPUTS, BIBLIOGRAPHY ON DEMAND</a:t>
            </a:r>
          </a:p>
        </p:txBody>
      </p:sp>
    </p:spTree>
    <p:extLst>
      <p:ext uri="{BB962C8B-B14F-4D97-AF65-F5344CB8AC3E}">
        <p14:creationId xmlns:p14="http://schemas.microsoft.com/office/powerpoint/2010/main" val="295894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7">
            <a:extLst xmlns:a="http://schemas.openxmlformats.org/drawingml/2006/main">
              <a:ext uri="{FF2B5EF4-FFF2-40B4-BE49-F238E27FC236}">
                <a16:creationId xmlns:a16="http://schemas.microsoft.com/office/drawing/2014/main" id="{D05D70F3-1A83-4DE7-A420-54EFA567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6E628D6C-91D2-41CC-B6BF-7C8C7293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SUBMISSION-PERIOD SCOPE</a:t>
            </a:r>
          </a:p>
        </p:txBody>
      </p:sp>
      <p:sp>
        <p:nvSpPr>
          <p:cNvPr id="3" name="folio-7">
            <a:extLst xmlns:a="http://schemas.openxmlformats.org/drawingml/2006/main">
              <a:ext uri="{FF2B5EF4-FFF2-40B4-BE49-F238E27FC236}">
                <a16:creationId xmlns:a16="http://schemas.microsoft.com/office/drawing/2014/main" id="{FC9ABB18-A307-4561-8228-63DD79F4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07 / 08</a:t>
            </a:r>
          </a:p>
        </p:txBody>
      </p:sp>
      <p:sp>
        <p:nvSpPr>
          <p:cNvPr id="4" name="scope-title">
            <a:extLst xmlns:a="http://schemas.openxmlformats.org/drawingml/2006/main">
              <a:ext uri="{FF2B5EF4-FFF2-40B4-BE49-F238E27FC236}">
                <a16:creationId xmlns:a16="http://schemas.microsoft.com/office/drawing/2014/main" id="{246FF575-968C-48E5-858D-C6B69F61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Build Week integrated the product.</a:t>
            </a:r>
          </a:p>
        </p:txBody>
      </p:sp>
      <p:sp>
        <p:nvSpPr>
          <p:cNvPr id="5" name="scope-lead">
            <a:extLst xmlns:a="http://schemas.openxmlformats.org/drawingml/2006/main">
              <a:ext uri="{FF2B5EF4-FFF2-40B4-BE49-F238E27FC236}">
                <a16:creationId xmlns:a16="http://schemas.microsoft.com/office/drawing/2014/main" id="{2915E652-84E5-4795-A8C7-DCB42BAA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The entry shows the complete product while distinguishing pre-period foundations from the submission-period implementation.</a:t>
            </a:r>
          </a:p>
        </p:txBody>
      </p:sp>
      <p:sp>
        <p:nvSpPr>
          <p:cNvPr id="6" name="scope-divider">
            <a:extLst xmlns:a="http://schemas.openxmlformats.org/drawingml/2006/main">
              <a:ext uri="{FF2B5EF4-FFF2-40B4-BE49-F238E27FC236}">
                <a16:creationId xmlns:a16="http://schemas.microsoft.com/office/drawing/2014/main" id="{F7DF63A0-A9DB-4DD8-BF24-EAA22333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2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undation-label">
            <a:extLst xmlns:a="http://schemas.openxmlformats.org/drawingml/2006/main">
              <a:ext uri="{FF2B5EF4-FFF2-40B4-BE49-F238E27FC236}">
                <a16:creationId xmlns:a16="http://schemas.microsoft.com/office/drawing/2014/main" id="{16B8B22B-DB09-4438-B418-6FD94858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B65331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B65331"/>
                </a:solidFill>
                <a:latin typeface="Inter"/>
                <a:ea typeface="Inter"/>
                <a:cs typeface="Inter"/>
              </a:rPr>
              <a:t>FOUNDATION BEFORE JULY 13</a:t>
            </a:r>
          </a:p>
        </p:txBody>
      </p:sp>
      <p:sp>
        <p:nvSpPr>
          <p:cNvPr id="8" name="foundation-title">
            <a:extLst xmlns:a="http://schemas.openxmlformats.org/drawingml/2006/main">
              <a:ext uri="{FF2B5EF4-FFF2-40B4-BE49-F238E27FC236}">
                <a16:creationId xmlns:a16="http://schemas.microsoft.com/office/drawing/2014/main" id="{8589314A-12D9-410F-AF43-4571100C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Portable authoring and collaboration</a:t>
            </a:r>
          </a:p>
        </p:txBody>
      </p:sp>
      <p:sp>
        <p:nvSpPr>
          <p:cNvPr id="9" name="foundation-list">
            <a:extLst xmlns:a="http://schemas.openxmlformats.org/drawingml/2006/main">
              <a:ext uri="{FF2B5EF4-FFF2-40B4-BE49-F238E27FC236}">
                <a16:creationId xmlns:a16="http://schemas.microsoft.com/office/drawing/2014/main" id="{3EC889FD-CC27-4BDC-B883-ED858B27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- Markdown workspace and scientific preview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- Yjs collaboration and project recovery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- Reference library, PDF reader, and evidence links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- General local-model provider boundary</a:t>
            </a:r>
          </a:p>
        </p:txBody>
      </p:sp>
      <p:sp>
        <p:nvSpPr>
          <p:cNvPr id="10" name="period-label">
            <a:extLst xmlns:a="http://schemas.openxmlformats.org/drawingml/2006/main">
              <a:ext uri="{FF2B5EF4-FFF2-40B4-BE49-F238E27FC236}">
                <a16:creationId xmlns:a16="http://schemas.microsoft.com/office/drawing/2014/main" id="{09141D88-4219-410B-B01E-59B9A6A7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174F3D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174F3D"/>
                </a:solidFill>
                <a:latin typeface="Inter"/>
                <a:ea typeface="Inter"/>
                <a:cs typeface="Inter"/>
              </a:rPr>
              <a:t>FINAL REVIEWED RANGE · JULY 13–19</a:t>
            </a:r>
          </a:p>
        </p:txBody>
      </p:sp>
      <p:sp>
        <p:nvSpPr>
          <p:cNvPr id="11" name="period-title">
            <a:extLst xmlns:a="http://schemas.openxmlformats.org/drawingml/2006/main">
              <a:ext uri="{FF2B5EF4-FFF2-40B4-BE49-F238E27FC236}">
                <a16:creationId xmlns:a16="http://schemas.microsoft.com/office/drawing/2014/main" id="{58CE6E22-41BE-49A6-957A-7AA77005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194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20211E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20211E"/>
                </a:solidFill>
                <a:latin typeface="Georgia"/>
                <a:ea typeface="Georgia"/>
                <a:cs typeface="Georgia"/>
              </a:rPr>
              <a:t>One inspectable research-to-prose system</a:t>
            </a:r>
          </a:p>
        </p:txBody>
      </p:sp>
      <p:sp>
        <p:nvSpPr>
          <p:cNvPr id="12" name="period-list">
            <a:extLst xmlns:a="http://schemas.openxmlformats.org/drawingml/2006/main">
              <a:ext uri="{FF2B5EF4-FFF2-40B4-BE49-F238E27FC236}">
                <a16:creationId xmlns:a16="http://schemas.microsoft.com/office/drawing/2014/main" id="{A8DF844A-68E1-45D8-BB84-2F489E23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- Evidence map and independent reviews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- Highlight citation and PDF highlight import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- Member PDF access; never public links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676860"/>
                </a:solidFill>
                <a:latin typeface="Inter"/>
                <a:ea typeface="Inter"/>
                <a:cs typeface="Inter"/>
              </a:defRPr>
            </a:pPr>
            <a:r>
              <a:rPr sz="1500" b="0" i="0">
                <a:solidFill>
                  <a:srgbClr val="676860"/>
                </a:solidFill>
                <a:latin typeface="Inter"/>
                <a:ea typeface="Inter"/>
                <a:cs typeface="Inter"/>
              </a:rPr>
              <a:t>- BibTeX only at interoperability boundaries</a:t>
            </a:r>
          </a:p>
        </p:txBody>
      </p:sp>
      <p:sp>
        <p:nvSpPr>
          <p:cNvPr id="13" name="scope-verification-band">
            <a:extLst xmlns:a="http://schemas.openxmlformats.org/drawingml/2006/main">
              <a:ext uri="{FF2B5EF4-FFF2-40B4-BE49-F238E27FC236}">
                <a16:creationId xmlns:a16="http://schemas.microsoft.com/office/drawing/2014/main" id="{AE658A70-6792-4802-A2D5-C0FF6CAD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9525">
            <a:solidFill>
              <a:srgbClr val="C8C2B6"/>
            </a:solidFill>
            <a:prstDash val="solid"/>
          </a:ln>
        </p:spPr>
      </p:sp>
      <p:sp>
        <p:nvSpPr>
          <p:cNvPr id="14" name="scope-range">
            <a:extLst xmlns:a="http://schemas.openxmlformats.org/drawingml/2006/main">
              <a:ext uri="{FF2B5EF4-FFF2-40B4-BE49-F238E27FC236}">
                <a16:creationId xmlns:a16="http://schemas.microsoft.com/office/drawing/2014/main" id="{F98E0E9E-652B-4315-B714-BD2F57E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81675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 i="0">
                <a:solidFill>
                  <a:srgbClr val="676860"/>
                </a:solidFill>
                <a:latin typeface="Fira Code"/>
                <a:ea typeface="Fira Code"/>
                <a:cs typeface="Fira Code"/>
              </a:defRPr>
            </a:pPr>
            <a:r>
              <a:rPr sz="1200" b="1" i="0">
                <a:solidFill>
                  <a:srgbClr val="676860"/>
                </a:solidFill>
                <a:latin typeface="Fira Code"/>
                <a:ea typeface="Fira Code"/>
                <a:cs typeface="Fira Code"/>
              </a:rPr>
              <a:t>CORE PRODUCT RANGE  e6a7bdf..c8f0986</a:t>
            </a:r>
          </a:p>
        </p:txBody>
      </p:sp>
      <p:sp>
        <p:nvSpPr>
          <p:cNvPr id="15" name="scope-tests">
            <a:extLst xmlns:a="http://schemas.openxmlformats.org/drawingml/2006/main">
              <a:ext uri="{FF2B5EF4-FFF2-40B4-BE49-F238E27FC236}">
                <a16:creationId xmlns:a16="http://schemas.microsoft.com/office/drawing/2014/main" id="{B49EE466-E51B-4205-B2AB-84E75B45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8167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200" b="1" i="0">
                <a:solidFill>
                  <a:srgbClr val="174F3D"/>
                </a:solidFill>
                <a:latin typeface="Fira Code"/>
                <a:ea typeface="Fira Code"/>
                <a:cs typeface="Fira Code"/>
              </a:defRPr>
            </a:pPr>
            <a:r>
              <a:rPr sz="1200" b="1" i="0">
                <a:solidFill>
                  <a:srgbClr val="174F3D"/>
                </a:solidFill>
                <a:latin typeface="Fira Code"/>
                <a:ea typeface="Fira Code"/>
                <a:cs typeface="Fira Code"/>
              </a:rPr>
              <a:t>808 UNIT  |  117 WORKERS RUNTIME  |  65 BROWSER TESTS</a:t>
            </a:r>
          </a:p>
        </p:txBody>
      </p:sp>
    </p:spTree>
    <p:extLst>
      <p:ext uri="{BB962C8B-B14F-4D97-AF65-F5344CB8AC3E}">
        <p14:creationId xmlns:p14="http://schemas.microsoft.com/office/powerpoint/2010/main" val="1436186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2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-8">
            <a:extLst xmlns:a="http://schemas.openxmlformats.org/drawingml/2006/main">
              <a:ext uri="{FF2B5EF4-FFF2-40B4-BE49-F238E27FC236}">
                <a16:creationId xmlns:a16="http://schemas.microsoft.com/office/drawing/2014/main" id="{14E8AF27-36FA-48FC-AE09-C5D27E2E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B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8">
            <a:extLst xmlns:a="http://schemas.openxmlformats.org/drawingml/2006/main">
              <a:ext uri="{FF2B5EF4-FFF2-40B4-BE49-F238E27FC236}">
                <a16:creationId xmlns:a16="http://schemas.microsoft.com/office/drawing/2014/main" id="{D39BC81C-C866-4C53-AA2C-57BFE6C6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A8C0B5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A8C0B5"/>
                </a:solidFill>
                <a:latin typeface="Inter"/>
                <a:ea typeface="Inter"/>
                <a:cs typeface="Inter"/>
              </a:rPr>
              <a:t>HOW THE PROJECT WAS BUILT</a:t>
            </a:r>
          </a:p>
        </p:txBody>
      </p:sp>
      <p:sp>
        <p:nvSpPr>
          <p:cNvPr id="3" name="folio-8">
            <a:extLst xmlns:a="http://schemas.openxmlformats.org/drawingml/2006/main">
              <a:ext uri="{FF2B5EF4-FFF2-40B4-BE49-F238E27FC236}">
                <a16:creationId xmlns:a16="http://schemas.microsoft.com/office/drawing/2014/main" id="{0B0DC203-3C40-4E68-93F3-4DB00EE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19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A8C0B5"/>
                </a:solidFill>
                <a:latin typeface="Inter"/>
                <a:ea typeface="Inter"/>
                <a:cs typeface="Inter"/>
              </a:defRPr>
            </a:pPr>
            <a:r>
              <a:rPr sz="1125" b="1" i="0">
                <a:solidFill>
                  <a:srgbClr val="A8C0B5"/>
                </a:solidFill>
                <a:latin typeface="Inter"/>
                <a:ea typeface="Inter"/>
                <a:cs typeface="Inter"/>
              </a:rPr>
              <a:t>08 / 08</a:t>
            </a:r>
          </a:p>
        </p:txBody>
      </p:sp>
      <p:sp>
        <p:nvSpPr>
          <p:cNvPr id="4" name="codex-title">
            <a:extLst xmlns:a="http://schemas.openxmlformats.org/drawingml/2006/main">
              <a:ext uri="{FF2B5EF4-FFF2-40B4-BE49-F238E27FC236}">
                <a16:creationId xmlns:a16="http://schemas.microsoft.com/office/drawing/2014/main" id="{5A730B36-EC68-4E98-BD49-95AEC703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906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3675" b="1" i="0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Codex accelerated the build.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 i="0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3675" b="1" i="0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Human judgment set the boundaries.</a:t>
            </a:r>
          </a:p>
        </p:txBody>
      </p:sp>
      <p:sp>
        <p:nvSpPr>
          <p:cNvPr id="5" name="codex-label">
            <a:extLst xmlns:a="http://schemas.openxmlformats.org/drawingml/2006/main">
              <a:ext uri="{FF2B5EF4-FFF2-40B4-BE49-F238E27FC236}">
                <a16:creationId xmlns:a16="http://schemas.microsoft.com/office/drawing/2014/main" id="{9B923806-801E-40AA-9164-2312DAE1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E59A76"/>
                </a:solidFill>
                <a:latin typeface="Inter"/>
                <a:ea typeface="Inter"/>
                <a:cs typeface="Inter"/>
              </a:defRPr>
            </a:pPr>
            <a:r>
              <a:rPr sz="1350" b="1" i="0">
                <a:solidFill>
                  <a:srgbClr val="E59A76"/>
                </a:solidFill>
                <a:latin typeface="Inter"/>
                <a:ea typeface="Inter"/>
                <a:cs typeface="Inter"/>
              </a:rPr>
              <a:t>GPT-5.6 VIA CODEX</a:t>
            </a:r>
          </a:p>
        </p:txBody>
      </p:sp>
      <p:sp>
        <p:nvSpPr>
          <p:cNvPr id="6" name="codex-model">
            <a:extLst xmlns:a="http://schemas.openxmlformats.org/drawingml/2006/main">
              <a:ext uri="{FF2B5EF4-FFF2-40B4-BE49-F238E27FC236}">
                <a16:creationId xmlns:a16="http://schemas.microsoft.com/office/drawing/2014/main" id="{20C8836F-047A-4E9A-AB3D-05953EF6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550" b="1" i="0">
                <a:solidFill>
                  <a:srgbClr val="FFFDF7"/>
                </a:solidFill>
                <a:latin typeface="Fira Code"/>
                <a:ea typeface="Fira Code"/>
                <a:cs typeface="Fira Code"/>
              </a:defRPr>
            </a:pPr>
            <a:r>
              <a:rPr sz="2550" b="1" i="0">
                <a:solidFill>
                  <a:srgbClr val="FFFDF7"/>
                </a:solidFill>
                <a:latin typeface="Fira Code"/>
                <a:ea typeface="Fira Code"/>
                <a:cs typeface="Fira Code"/>
              </a:rPr>
              <a:t>gpt-5.6-sol</a:t>
            </a:r>
          </a:p>
        </p:txBody>
      </p:sp>
      <p:sp>
        <p:nvSpPr>
          <p:cNvPr id="7" name="codex-session">
            <a:extLst xmlns:a="http://schemas.openxmlformats.org/drawingml/2006/main">
              <a:ext uri="{FF2B5EF4-FFF2-40B4-BE49-F238E27FC236}">
                <a16:creationId xmlns:a16="http://schemas.microsoft.com/office/drawing/2014/main" id="{ADF850E8-1E1E-401E-8B4E-635E5ADB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1" i="0">
                <a:solidFill>
                  <a:srgbClr val="A8C0B5"/>
                </a:solidFill>
                <a:latin typeface="Fira Code"/>
                <a:ea typeface="Fira Code"/>
                <a:cs typeface="Fira Code"/>
              </a:defRPr>
            </a:pPr>
            <a:r>
              <a:rPr sz="1200" b="1" i="0">
                <a:solidFill>
                  <a:srgbClr val="A8C0B5"/>
                </a:solidFill>
                <a:latin typeface="Fira Code"/>
                <a:ea typeface="Fira Code"/>
                <a:cs typeface="Fira Code"/>
              </a:rPr>
              <a:t>QUALIFYING /feedback SESSION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1" i="0">
                <a:solidFill>
                  <a:srgbClr val="A8C0B5"/>
                </a:solidFill>
                <a:latin typeface="Fira Code"/>
                <a:ea typeface="Fira Code"/>
                <a:cs typeface="Fira Code"/>
              </a:defRPr>
            </a:pPr>
            <a:r>
              <a:rPr sz="1200" b="1" i="0">
                <a:solidFill>
                  <a:srgbClr val="A8C0B5"/>
                </a:solidFill>
                <a:latin typeface="Fira Code"/>
                <a:ea typeface="Fira Code"/>
                <a:cs typeface="Fira Code"/>
              </a:rPr>
              <a:t>019f6472-5ece-7cd3-b66f-ba344ba9e812</a:t>
            </a:r>
          </a:p>
        </p:txBody>
      </p:sp>
      <p:sp>
        <p:nvSpPr>
          <p:cNvPr id="8" name="codex-role">
            <a:extLst xmlns:a="http://schemas.openxmlformats.org/drawingml/2006/main">
              <a:ext uri="{FF2B5EF4-FFF2-40B4-BE49-F238E27FC236}">
                <a16:creationId xmlns:a16="http://schemas.microsoft.com/office/drawing/2014/main" id="{C01C300B-556A-4C61-822B-C8BD9122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D6D6CF"/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D6D6CF"/>
                </a:solidFill>
                <a:latin typeface="Inter"/>
                <a:ea typeface="Inter"/>
                <a:cs typeface="Inter"/>
              </a:rPr>
              <a:t>Codex inspected the live system, implemented scoped refinements, added tests, and repeated browser reviews through the final snapshot.</a:t>
            </a:r>
          </a:p>
        </p:txBody>
      </p:sp>
      <p:sp>
        <p:nvSpPr>
          <p:cNvPr id="9" name="human-role">
            <a:extLst xmlns:a="http://schemas.openxmlformats.org/drawingml/2006/main">
              <a:ext uri="{FF2B5EF4-FFF2-40B4-BE49-F238E27FC236}">
                <a16:creationId xmlns:a16="http://schemas.microsoft.com/office/drawing/2014/main" id="{61D8BD08-4EB9-4AE1-A4F3-6598015C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 i="0">
                <a:solidFill>
                  <a:srgbClr val="D6D6CF"/>
                </a:solidFill>
                <a:latin typeface="Inter"/>
                <a:ea typeface="Inter"/>
                <a:cs typeface="Inter"/>
              </a:defRPr>
            </a:pPr>
            <a:r>
              <a:rPr sz="1575" b="0" i="0">
                <a:solidFill>
                  <a:srgbClr val="D6D6CF"/>
                </a:solidFill>
                <a:latin typeface="Inter"/>
                <a:ea typeface="Inter"/>
                <a:cs typeface="Inter"/>
              </a:rPr>
              <a:t>The author retained product direction, architecture, provenance rules, the human-disposition boundary, acceptance decisions, and final review.</a:t>
            </a:r>
          </a:p>
        </p:txBody>
      </p:sp>
      <p:sp>
        <p:nvSpPr>
          <p:cNvPr id="10" name="judge-action">
            <a:extLst xmlns:a="http://schemas.openxmlformats.org/drawingml/2006/main">
              <a:ext uri="{FF2B5EF4-FFF2-40B4-BE49-F238E27FC236}">
                <a16:creationId xmlns:a16="http://schemas.microsoft.com/office/drawing/2014/main" id="{04B220E5-F716-4BD5-8373-A5D23391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744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po-link">
            <a:extLst xmlns:a="http://schemas.openxmlformats.org/drawingml/2006/main">
              <a:ext uri="{FF2B5EF4-FFF2-40B4-BE49-F238E27FC236}">
                <a16:creationId xmlns:a16="http://schemas.microsoft.com/office/drawing/2014/main" id="{E795AA1C-624C-428A-A296-E003EA28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 i="0">
                <a:solidFill>
                  <a:srgbClr val="174F3D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74F3D"/>
                </a:solidFill>
                <a:latin typeface="Georgia"/>
                <a:ea typeface="Georgia"/>
                <a:cs typeface="Georgia"/>
                <a:hlinkClick xmlns:r="http://schemas.openxmlformats.org/officeDocument/2006/relationships" r:id="Rb05af696cf5b48fa"/>
              </a:rPr>
              <a:t>Open the public snapshot</a:t>
            </a:r>
          </a:p>
        </p:txBody>
      </p:sp>
      <p:sp>
        <p:nvSpPr>
          <p:cNvPr id="12" name="guide-link">
            <a:extLst xmlns:a="http://schemas.openxmlformats.org/drawingml/2006/main">
              <a:ext uri="{FF2B5EF4-FFF2-40B4-BE49-F238E27FC236}">
                <a16:creationId xmlns:a16="http://schemas.microsoft.com/office/drawing/2014/main" id="{C2E7C870-28B1-477A-B6C1-96CAEA9A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 i="0">
                <a:solidFill>
                  <a:srgbClr val="174F3D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74F3D"/>
                </a:solidFill>
                <a:latin typeface="Georgia"/>
                <a:ea typeface="Georgia"/>
                <a:cs typeface="Georgia"/>
                <a:hlinkClick xmlns:r="http://schemas.openxmlformats.org/officeDocument/2006/relationships" r:id="Rb56ddb1017b34980"/>
              </a:rPr>
              <a:t>Open the judge walkthrough</a:t>
            </a:r>
          </a:p>
        </p:txBody>
      </p:sp>
      <p:sp>
        <p:nvSpPr>
          <p:cNvPr id="13" name="run-command">
            <a:extLst xmlns:a="http://schemas.openxmlformats.org/drawingml/2006/main">
              <a:ext uri="{FF2B5EF4-FFF2-40B4-BE49-F238E27FC236}">
                <a16:creationId xmlns:a16="http://schemas.microsoft.com/office/drawing/2014/main" id="{7FA27FB6-5375-48FA-AC84-41659BB5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 i="0">
                <a:solidFill>
                  <a:srgbClr val="676860"/>
                </a:solidFill>
                <a:latin typeface="Fira Code"/>
                <a:ea typeface="Fira Code"/>
                <a:cs typeface="Fira Code"/>
              </a:defRPr>
            </a:pPr>
            <a:r>
              <a:rPr sz="1200" b="1" i="0">
                <a:solidFill>
                  <a:srgbClr val="676860"/>
                </a:solidFill>
                <a:latin typeface="Fira Code"/>
                <a:ea typeface="Fira Code"/>
                <a:cs typeface="Fira Code"/>
              </a:rPr>
              <a:t>nvm use  |  npm install  |  npm run dev</a:t>
            </a:r>
          </a:p>
        </p:txBody>
      </p:sp>
      <p:sp>
        <p:nvSpPr>
          <p:cNvPr id="14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6011F2A1-42DC-4E18-A466-F759CA6D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B65331"/>
                </a:solidFill>
                <a:latin typeface="Inter"/>
                <a:ea typeface="Inter"/>
                <a:cs typeface="Inter"/>
              </a:defRPr>
            </a:pPr>
            <a:r>
              <a:rPr sz="1275" b="1" i="0">
                <a:solidFill>
                  <a:srgbClr val="B65331"/>
                </a:solidFill>
                <a:latin typeface="Inter"/>
                <a:ea typeface="Inter"/>
                <a:cs typeface="Inter"/>
              </a:rPr>
              <a:t>Inspect the trail. Keep the source. Decide what changes.</a:t>
            </a:r>
          </a:p>
        </p:txBody>
      </p:sp>
    </p:spTree>
    <p:extLst>
      <p:ext uri="{BB962C8B-B14F-4D97-AF65-F5344CB8AC3E}">
        <p14:creationId xmlns:p14="http://schemas.microsoft.com/office/powerpoint/2010/main" val="209823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2026-07-19T20:28:49.3110000Z</dcterms:created>
  <dcterms:modified xsi:type="dcterms:W3CDTF">2026-07-19T20:28:49.3110000Z</dcterms:modified>
</coreProperties>
</file>